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66a8c212-d775-cea5-7fa0-fbfe63c5bc99}">
          <p14:sldIdLst>
            <p14:sldId id="256"/>
            <p14:sldId id="257"/>
          </p14:sldIdLst>
        </p14:section>
        <p14:section name="01 概念" id="{41e2eb8e-6a97-b885-d3af-3a6d3936822e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02 流程" id="{639fe0a3-9455-fbd9-1692-cd374f3ae843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03 實務分享" id="{122f114a-ebaf-0913-51b5-d937c87a2269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結尾" id="{4da96126-e1a8-a7cf-66b9-0f13d1b665e5}">
          <p14:sldIdLst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開場自我介紹。這份分享整理自我這陣子研究 SBOM 的知識庫和實際在 .NET 專案上的實驗。聽眾都是有經驗的工程師，所以會少講定義、多講指令、資料格式和踩過的坑。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Log4Shell 當開場。那時很多團隊花了好幾天才確認哪些系統受影響。如果每個發佈版本都附帶 SBOM，這件事就變成查詢。sbom-tools 的 query 指令就是做這件事（指令取自其 README，尚未實測）。接著介紹今天的三段：概念、流程、實務分享。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第一段：概念。重點不是背定義，而是理解 SBOM 裡面有什麼、靠什麼比對弱點。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SBOM 就像食品成分標示。和 lockfile 的差別：lockfile 給套件管理器用，SBOM 是給人和其他系統交換的標準文件。和 SCA 的差別：SCA 是分析動作，SBOM 是分析結果的標準化輸出。比較表是我依概念整理的框架，不是某份標準的原文。另外強調：SBOM 是供應鏈透明度的基礎，但不是完整性保證。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時間軸：紅色是攻擊事件，橘色是政策。SolarWinds 之後美國在 2021-05-12 發布 EO 14028，要求 NTIA 在 60 天內定義 SBOM 基本元素，於 2021-07-12 發布。Log4Shell 讓所有人都意識到需要元件清冊。底下兩個數字說明為什麼這是每個工程師的事：我們寫的程式碼大部分其實是別人的。注意：這頁法規資訊來自二手來源，EO 14028 現行狀態尚未查證。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NTIA 最低要素分三大類：資料欄位、自動化支援、實務與流程。工程師最在意的是資料欄位這七項。右邊用 CycloneDX JSON 對照每個欄位落在哪裡：1–4 在 components，5 在 dependencies，6、7 在 metadata。注意第 4 項 purl，後面會講它是弱點比對的關鍵。CISA 2026 版的資訊只來自 sbom-tools README 的轉述，尚待原文核對。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三種格式。SPDX 是 ISO 標準，由 Linux Foundation 推動。CycloneDX 由 OWASP 主導，官方稱已成為 ECMA-424，專為 SBOM 設計，內建 VEX。SWID 由 ISO 定義、NIST 推廣，重點是端點上已安裝軟體的清冊，比較像資產管理。本次實務用到的 syft、dotnet-CycloneDX、retire、trivy 都能輸出 CycloneDX，所以後面都以 CycloneDX JSON 為主。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這頁是理解所有掃描工具的關鍵。SBOM 裡每個元件的 purl 是比對鍵，掃描器拿 purl 去弱點資料庫查，得到 CVE。CVE 是 MITRE 營運的公共弱點編號，透過 CNA 制度分派。最後一步 VEX 判斷這個 CVE 對我們的產品是否真的可利用。重點警告：grype 只比對有 purl 的套件，沒有 purl 的元件根本不在掃描範圍。purl 完整結構的細節本知識庫尚無規格一手來源。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CISA 定義六種類型。重點是：同樣叫 SBOM，資料來源不同結果就不同。工程師最常接觸的是 Source、Build 和 Analyzed。從專案檔產生的（dotnet-CycloneDX）偏 Source／Build，對 publish 資料夾掃描的（syft dir:publish）偏 Analyzed。這個工具對類型的對照是我的推論，CISA 文件沒有直接這樣分類。開源專案通常只負責 Source 與 Build，其他類型多由軟體消費者產生。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VEX 由 NTIA 在 2021 提出。SBOM 描述元件，VEX 只描述弱點的可利用性。四種狀態：not_affected 一定要附理由，例如漏洞程式碼不在執行路徑上。VEX 可以隨時間更新，先發 under_investigation，查明後再發 not_affected 或 fixed。注意不同格式的理由用詞不同：CycloneDX 用 code_not_reachable，OpenVEX 用 vulnerable_code_not_in_execute_path。右邊 CVE 編號是示意。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第二段：流程。從產生到消費的完整生命週期，以及怎麼放進 CI/CD。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完整生命週期六步。產生之後先驗證格式，有多個來源（例如後端和前端）就合併，再掃弱點和授權，對找到的弱點做 VEX 研判，最後保存並隨製品發布。底部強調兩個迴圈：程式碼改了要重產；弱點資料庫每天更新，舊版本的 SBOM 也要定期重掃。簽章在這次實務還沒做，列為下一步。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產生 SBOM 有兩種輸入。從專案檔：工具讀方案檔、專案檔、lockfile，經 dotnet restore 解析依賴，好處是有依賴樹和授權資訊，但可能包含不在出貨輸出的套件，dotnet-CycloneDX 可用 -ef 排除、-t 排除測試專案。從產物：對 publish 資料夾或容器映像分析，貼近實際部署，但靠啟發式辨識。我的建議：自家專案以專案檔為主，產物掃描做交叉驗證（兩者元件清單一致性尚未實測）。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同一份 SBOM 有兩種消費方式。弱點：用 purl 對資料庫，記得記錄資料庫版本，因為同一份 SBOM 明天掃的結果可能不同。掃出來的只是候選清單，還要研判。授權：讀元件的 license 欄位。這是我從 syft 換工具的原因：syft 對 .NET 套件取不到授權資訊，就沒辦法快速檢查授權是否核可。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這是依三個工具的職責整理的建議順序。重點在第 3、4 步的人工研判：這一步沒有工具可以代勞。affected 就修補、重建；不受影響就用 vexctl create 寫下 OpenVEX 聲明，多份可以 merge，需要時可簽證。然後讓 grype 帶 VEX 重掃，剩下的再回去研判。坦白說：grype 的 --vex 實際參數我還沒實測，這張是流程設計，不是實測結果。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放進 CI/CD 的三個問題。什麼時候跑：跟製品同一個 build 流程產生，這樣才能一起簽章；另外排程重掃舊版本。Gate 條件是我的建議，不是標準要求：新增高風險弱點但沒有 VEX 聲明就擋，sbom-tools 有 --fail-on-vex-gap 可以做到，exit code 4 表示 VEX 缺口；授權不在核可清單也擋。保存方面，OpenSSF 建議檔名是製品完整檔名加 .cdx.json。底下指令取自工具 README，尚未實測（sbom-tools diff 的旗標組合請以實際版本為準）。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第三段：實務分享。這些是我在公司 .NET 專案上實際跑過的指令與腳本。專案名稱已改為 MyApp／MyWebApp。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把工具分四層。打星號的是我實際用過的。注意兩個容易混淆的名字：Microsoft sbom-tool 是 Microsoft 的 SPDX 產生工具；sbom-tools（有 s）是第三方 Rust 工具，做 diff、品質評分、合規檢查，兩者不同。cyclonedx-cli 在 Windows 上的指令名是 cyclonedx-win-x64。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第一個實驗用 Anchore 的 syft 和 grype。第一次直接掃整個專案目錄，得到 1365 個元件，因為 bin、obj、publish 裡同樣的 DLL 被重複計算。改成只掃 dotnet publish 的輸出，剩 176 個，其中 170 個是 NuGet library、6 個是 application。這是單一專案的單次實測，未跨專案驗證。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三個坑。第一，沒有 purl 就不會被比對，而且同一個套件可能有兩筆不同寫法的 purl。第二，掃出 0 個漏洞只代表資料庫裡沒有已知弱點，.NET runtime 本身也不在範圍，所以一定要記錄資料庫版本。第三個是決定性的：syft 拿不到 .NET 套件的授權資訊，實測 SBOM 裡沒有 license 欄位，所以我改走第二條路線。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第二條路線：CycloneDX 官方的 .NET 工具，從方案檔經 dotnet restore 解析依賴，實測版本 6.2.0。預設輸出 XML，要指定 JSON。版本號從 csproj 讀出來放進檔名，之後拿到一份 SBOM 就知道是哪一版。弱點和授權都交給 trivy。授權報告先用一小段 python 把 Microsoft 發行的套件濾掉，因為那些都可以免費商用，不濾的話報告會被淹沒。腳本尚無實跑輸出紀錄，產出品質未驗證。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 ASP.NET 專案用 libman 管前端函式庫，沒有 package.json，所以官方的 cyclonedx-npm 用不上。retire.js 是專精 JavaScript 的掃描器，用檔案內容特徵辨識版本，連直接放進版控的 JS 檔也抓得到，而且能輸出 CycloneDX。再用 cyclonedx-cli 把 .NET 和 JS 兩份 SBOM 合併。右邊是覆蓋缺口：CSS 不掃、有些函式庫辨識不到，這些不會出現在 SBOM，要人工檢查。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把前面兩段串成一支腳本：.NET 主體和前端函式庫各產一份 SBOM，合併後統一用 trivy 掃弱點和授權，最後在 .sbom 資料夾留下四個檔案。目前腳本裡專案名稱和路徑是寫死的，換專案要改；下一步是參數化後放進 CI。腳本尚無實跑輸出紀錄，結論僅限流程設計。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兩條路線的比較。路線一掃產物，貼近部署，但拿不到 .NET 授權；路線二從專案檔產生，有授權、能合併前端。我的選擇是自家專案走路線二。誠實說明：兩條路線產出的元件清單是否一致，我還沒有實測比對，這是接下來要做的。Microsoft sbom-tool 是第三條路，但只輸出 SPDX，這次沒有採用。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把前面所有坑整理成一張檢核清單，大家可以拿回去對照自己的專案。左邊是產生階段，右邊是掃描與保存。最後一項「腳本參數化放進 CI」是我自己的下一步。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總結三件事。下一步研究方向：用 Dependency-Track 集中管理多個專案的 SBOM；用 Sigstore 或 in-toto 做簽章與證明；以及歐盟 CRA 與 CISA 2026 最低要素的實際要求。這幾項我的知識庫還沒有一手資料。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開放提問。可以邀請大家分享自己專案目前有沒有在產 SBOM、用什麼工具。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058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SBOM 實戰分享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SBOM 實戰：從看得到元件，到知道真正的風險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軟體物料清單（Software Bill of Materials）的概念、流程與 .NET 落地經驗</a:t>
            </a:r>
            <a:endParaRPr lang="en-US" sz="2000" dirty="0"/>
          </a:p>
        </p:txBody>
      </p:sp>
      <p:sp>
        <p:nvSpPr>
          <p:cNvPr id="4" name="iconbg-1"/>
          <p:cNvSpPr/>
          <p:nvPr/>
        </p:nvSpPr>
        <p:spPr>
          <a:xfrm>
            <a:off x="731520" y="731520"/>
            <a:ext cx="822960" cy="822960"/>
          </a:xfrm>
          <a:prstGeom prst="ellipse">
            <a:avLst/>
          </a:prstGeom>
          <a:solidFill>
            <a:srgbClr val="0E7C6B"/>
          </a:solidFill>
          <a:ln/>
        </p:spPr>
      </p:sp>
      <p:pic>
        <p:nvPicPr>
          <p:cNvPr id="5" name="icon-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937260"/>
            <a:ext cx="411480" cy="411480"/>
          </a:xfrm>
          <a:prstGeom prst="rect">
            <a:avLst/>
          </a:prstGeom>
        </p:spPr>
      </p:pic>
      <p:sp>
        <p:nvSpPr>
          <p:cNvPr id="6" name="txt-3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John ・ 2026-10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先問一個問題</a:t>
            </a:r>
            <a:endParaRPr lang="en-US" sz="3200" dirty="0"/>
          </a:p>
        </p:txBody>
      </p:sp>
      <p:sp>
        <p:nvSpPr>
          <p:cNvPr id="3" name="card-4"/>
          <p:cNvSpPr/>
          <p:nvPr/>
        </p:nvSpPr>
        <p:spPr>
          <a:xfrm>
            <a:off x="548640" y="1371600"/>
            <a:ext cx="676656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/>
        </p:spPr>
      </p:sp>
      <p:sp>
        <p:nvSpPr>
          <p:cNvPr id="4" name="txt-5"/>
          <p:cNvSpPr txBox="1"/>
          <p:nvPr/>
        </p:nvSpPr>
        <p:spPr>
          <a:xfrm>
            <a:off x="914400" y="1645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2021-12 ・ Log4Shell 爆發那天</a:t>
            </a:r>
            <a:endParaRPr lang="en-US" sz="1500" dirty="0"/>
          </a:p>
        </p:txBody>
      </p:sp>
      <p:sp>
        <p:nvSpPr>
          <p:cNvPr id="5" name="txt-6"/>
          <p:cNvSpPr txBox="1"/>
          <p:nvPr/>
        </p:nvSpPr>
        <p:spPr>
          <a:xfrm>
            <a:off x="914400" y="214884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你能在 1 小時內回答：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「我們有哪些系統用了 log4j &lt; 2.17.0？」</a:t>
            </a:r>
            <a:endParaRPr lang="en-US" sz="2600" dirty="0"/>
          </a:p>
        </p:txBody>
      </p:sp>
      <p:sp>
        <p:nvSpPr>
          <p:cNvPr id="6" name="txt-7"/>
          <p:cNvSpPr txBox="1"/>
          <p:nvPr/>
        </p:nvSpPr>
        <p:spPr>
          <a:xfrm>
            <a:off x="914400" y="39776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如果每個版本都留有 SBOM，答案只是一行查詢：</a:t>
            </a:r>
            <a:endParaRPr lang="en-US" sz="1500" dirty="0"/>
          </a:p>
        </p:txBody>
      </p:sp>
      <p:sp>
        <p:nvSpPr>
          <p:cNvPr id="7" name="card-8"/>
          <p:cNvSpPr/>
          <p:nvPr/>
        </p:nvSpPr>
        <p:spPr>
          <a:xfrm>
            <a:off x="914400" y="4480560"/>
            <a:ext cx="603504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8" name="code-9"/>
          <p:cNvSpPr txBox="1"/>
          <p:nvPr/>
        </p:nvSpPr>
        <p:spPr>
          <a:xfrm>
            <a:off x="1097280" y="461772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sbom-tools query "log4j" \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--version "&lt;2.17.0" fleet/*.json</a:t>
            </a:r>
            <a:endParaRPr lang="en-US" sz="1400" dirty="0"/>
          </a:p>
        </p:txBody>
      </p:sp>
      <p:sp>
        <p:nvSpPr>
          <p:cNvPr id="9" name="txt-10"/>
          <p:cNvSpPr txBox="1"/>
          <p:nvPr/>
        </p:nvSpPr>
        <p:spPr>
          <a:xfrm>
            <a:off x="914400" y="55321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沒有 SBOM：逐一翻 repo、問負責人、猜部署版本</a:t>
            </a:r>
            <a:endParaRPr lang="en-US" sz="1400" dirty="0"/>
          </a:p>
        </p:txBody>
      </p:sp>
      <p:sp>
        <p:nvSpPr>
          <p:cNvPr id="10" name="chip-11"/>
          <p:cNvSpPr/>
          <p:nvPr/>
        </p:nvSpPr>
        <p:spPr>
          <a:xfrm>
            <a:off x="7772400" y="16002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xt-12"/>
          <p:cNvSpPr txBox="1"/>
          <p:nvPr/>
        </p:nvSpPr>
        <p:spPr>
          <a:xfrm>
            <a:off x="777240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01</a:t>
            </a:r>
            <a:endParaRPr lang="en-US" sz="1800" dirty="0"/>
          </a:p>
        </p:txBody>
      </p:sp>
      <p:sp>
        <p:nvSpPr>
          <p:cNvPr id="12" name="txt-13"/>
          <p:cNvSpPr txBox="1"/>
          <p:nvPr/>
        </p:nvSpPr>
        <p:spPr>
          <a:xfrm>
            <a:off x="8778240" y="15087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概念</a:t>
            </a:r>
            <a:endParaRPr lang="en-US" sz="2200" dirty="0"/>
          </a:p>
        </p:txBody>
      </p:sp>
      <p:sp>
        <p:nvSpPr>
          <p:cNvPr id="13" name="txt-14"/>
          <p:cNvSpPr txBox="1"/>
          <p:nvPr/>
        </p:nvSpPr>
        <p:spPr>
          <a:xfrm>
            <a:off x="8778240" y="20116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SBOM 是什麼、格式、識別碼、類型、VEX</a:t>
            </a:r>
            <a:endParaRPr lang="en-US" sz="1400" dirty="0"/>
          </a:p>
        </p:txBody>
      </p:sp>
      <p:sp>
        <p:nvSpPr>
          <p:cNvPr id="14" name="chip-15"/>
          <p:cNvSpPr/>
          <p:nvPr/>
        </p:nvSpPr>
        <p:spPr>
          <a:xfrm>
            <a:off x="7772400" y="324612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txt-16"/>
          <p:cNvSpPr txBox="1"/>
          <p:nvPr/>
        </p:nvSpPr>
        <p:spPr>
          <a:xfrm>
            <a:off x="7772400" y="3246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02</a:t>
            </a:r>
            <a:endParaRPr lang="en-US" sz="1800" dirty="0"/>
          </a:p>
        </p:txBody>
      </p:sp>
      <p:sp>
        <p:nvSpPr>
          <p:cNvPr id="16" name="txt-17"/>
          <p:cNvSpPr txBox="1"/>
          <p:nvPr/>
        </p:nvSpPr>
        <p:spPr>
          <a:xfrm>
            <a:off x="8778240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流程</a:t>
            </a:r>
            <a:endParaRPr lang="en-US" sz="2200" dirty="0"/>
          </a:p>
        </p:txBody>
      </p:sp>
      <p:sp>
        <p:nvSpPr>
          <p:cNvPr id="17" name="txt-18"/>
          <p:cNvSpPr txBox="1"/>
          <p:nvPr/>
        </p:nvSpPr>
        <p:spPr>
          <a:xfrm>
            <a:off x="8778240" y="36576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產生 → 驗證 → 掃描 → VEX → 保存，放進 CI/CD</a:t>
            </a:r>
            <a:endParaRPr lang="en-US" sz="1400" dirty="0"/>
          </a:p>
        </p:txBody>
      </p:sp>
      <p:sp>
        <p:nvSpPr>
          <p:cNvPr id="18" name="chip-19"/>
          <p:cNvSpPr/>
          <p:nvPr/>
        </p:nvSpPr>
        <p:spPr>
          <a:xfrm>
            <a:off x="7772400" y="489204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xt-20"/>
          <p:cNvSpPr txBox="1"/>
          <p:nvPr/>
        </p:nvSpPr>
        <p:spPr>
          <a:xfrm>
            <a:off x="7772400" y="4892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03</a:t>
            </a:r>
            <a:endParaRPr lang="en-US" sz="1800" dirty="0"/>
          </a:p>
        </p:txBody>
      </p:sp>
      <p:sp>
        <p:nvSpPr>
          <p:cNvPr id="20" name="txt-21"/>
          <p:cNvSpPr txBox="1"/>
          <p:nvPr/>
        </p:nvSpPr>
        <p:spPr>
          <a:xfrm>
            <a:off x="8778240" y="4800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實務分享</a:t>
            </a:r>
            <a:endParaRPr lang="en-US" sz="2200" dirty="0"/>
          </a:p>
        </p:txBody>
      </p:sp>
      <p:sp>
        <p:nvSpPr>
          <p:cNvPr id="21" name="txt-22"/>
          <p:cNvSpPr txBox="1"/>
          <p:nvPr/>
        </p:nvSpPr>
        <p:spPr>
          <a:xfrm>
            <a:off x="8778240" y="53035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.NET 兩條路線實測、前端 JS、踩坑與檢核清單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23"/>
          <p:cNvSpPr txBox="1"/>
          <p:nvPr/>
        </p:nvSpPr>
        <p:spPr>
          <a:xfrm>
            <a:off x="731520" y="14630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01</a:t>
            </a:r>
            <a:endParaRPr lang="en-US" sz="7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概念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8404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SBOM 是什麼、為什麼現在、格式與識別碼、六種類型、VEX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SBOM：軟體的成分標示</a:t>
            </a:r>
            <a:endParaRPr lang="en-US" sz="3200" dirty="0"/>
          </a:p>
        </p:txBody>
      </p:sp>
      <p:sp>
        <p:nvSpPr>
          <p:cNvPr id="3" name="iconbg-24"/>
          <p:cNvSpPr/>
          <p:nvPr/>
        </p:nvSpPr>
        <p:spPr>
          <a:xfrm>
            <a:off x="548640" y="1417320"/>
            <a:ext cx="914400" cy="914400"/>
          </a:xfrm>
          <a:prstGeom prst="ellipse">
            <a:avLst/>
          </a:prstGeom>
          <a:solidFill>
            <a:srgbClr val="0E7C6B"/>
          </a:solidFill>
          <a:ln/>
        </p:spPr>
      </p:sp>
      <p:pic>
        <p:nvPicPr>
          <p:cNvPr id="4" name="icon-2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457200" cy="457200"/>
          </a:xfrm>
          <a:prstGeom prst="rect">
            <a:avLst/>
          </a:prstGeom>
        </p:spPr>
      </p:pic>
      <p:sp>
        <p:nvSpPr>
          <p:cNvPr id="5" name="txt-26"/>
          <p:cNvSpPr txBox="1"/>
          <p:nvPr/>
        </p:nvSpPr>
        <p:spPr>
          <a:xfrm>
            <a:off x="1691640" y="1463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列出一個軟體由哪些元件組成</a:t>
            </a:r>
            <a:endParaRPr lang="en-US" sz="2000" dirty="0"/>
          </a:p>
        </p:txBody>
      </p:sp>
      <p:sp>
        <p:nvSpPr>
          <p:cNvPr id="6" name="txt-27"/>
          <p:cNvSpPr txBox="1"/>
          <p:nvPr/>
        </p:nvSpPr>
        <p:spPr>
          <a:xfrm>
            <a:off x="548640" y="260604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名稱、版本、供應商、識別碼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元件之間的依賴關係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誰、在什麼時候產生這份清單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以機器可讀的標準格式交換</a:t>
            </a:r>
            <a:endParaRPr lang="en-US" sz="1600" dirty="0"/>
          </a:p>
        </p:txBody>
      </p:sp>
      <p:sp>
        <p:nvSpPr>
          <p:cNvPr id="7" name="card-28"/>
          <p:cNvSpPr/>
          <p:nvPr/>
        </p:nvSpPr>
        <p:spPr>
          <a:xfrm>
            <a:off x="548640" y="4846320"/>
            <a:ext cx="4389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8" name="txt-29"/>
          <p:cNvSpPr txBox="1"/>
          <p:nvPr/>
        </p:nvSpPr>
        <p:spPr>
          <a:xfrm>
            <a:off x="777240" y="49834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424F"/>
                </a:solidFill>
              </a:rPr>
              <a:t>可見性 ≠ 完整性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SBOM 只說「有什麼」；要證明沒被竄改，還需要 provenance 與簽章。</a:t>
            </a:r>
            <a:endParaRPr lang="en-US" sz="1400" dirty="0"/>
          </a:p>
        </p:txBody>
      </p:sp>
      <p:graphicFrame>
        <p:nvGraphicFramePr>
          <p:cNvPr id="5" name="compar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463040"/>
          <a:ext cx="62179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737360"/>
                <a:gridCol w="1737360"/>
                <a:gridCol w="19202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lockfile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SCA 掃描報告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SBOM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目的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鎖定可重現的安裝版本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找出已知弱點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交換元件清冊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讀者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套件管理器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內部資安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客戶、稽核、下游、工具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格式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各生態系自訂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各廠商自訂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SPDX／CycloneDX 標準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範圍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單一生態系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依工具而定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可跨生態系合併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xt-30"/>
          <p:cNvSpPr txBox="1"/>
          <p:nvPr/>
        </p:nvSpPr>
        <p:spPr>
          <a:xfrm>
            <a:off x="5394960" y="484632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SBOM 不取代 lockfile 或 SCA，而是把結果變成可交換、可查詢的標準文件。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為什麼是現在：供應鏈攻擊推動了政策</a:t>
            </a:r>
            <a:endParaRPr lang="en-US" sz="3200" dirty="0"/>
          </a:p>
        </p:txBody>
      </p:sp>
      <p:sp>
        <p:nvSpPr>
          <p:cNvPr id="3" name="timeline"/>
          <p:cNvSpPr/>
          <p:nvPr/>
        </p:nvSpPr>
        <p:spPr>
          <a:xfrm>
            <a:off x="640080" y="2880360"/>
            <a:ext cx="10881360" cy="0"/>
          </a:xfrm>
          <a:prstGeom prst="line">
            <a:avLst/>
          </a:prstGeom>
          <a:noFill/>
          <a:ln w="25400">
            <a:solidFill>
              <a:srgbClr val="B8C7C3"/>
            </a:solidFill>
            <a:prstDash val="solid"/>
          </a:ln>
        </p:spPr>
      </p:sp>
      <p:sp>
        <p:nvSpPr>
          <p:cNvPr id="4" name="dot-31"/>
          <p:cNvSpPr/>
          <p:nvPr/>
        </p:nvSpPr>
        <p:spPr>
          <a:xfrm>
            <a:off x="1252728" y="2761488"/>
            <a:ext cx="237744" cy="237744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xt-32"/>
          <p:cNvSpPr txBox="1"/>
          <p:nvPr/>
        </p:nvSpPr>
        <p:spPr>
          <a:xfrm>
            <a:off x="365760" y="1417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2014</a:t>
            </a:r>
            <a:endParaRPr lang="en-US" sz="1400" dirty="0"/>
          </a:p>
        </p:txBody>
      </p:sp>
      <p:sp>
        <p:nvSpPr>
          <p:cNvPr id="6" name="txt-33"/>
          <p:cNvSpPr txBox="1"/>
          <p:nvPr/>
        </p:nvSpPr>
        <p:spPr>
          <a:xfrm>
            <a:off x="365760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Heartbleed</a:t>
            </a:r>
            <a:endParaRPr lang="en-US" sz="1500" dirty="0"/>
          </a:p>
        </p:txBody>
      </p:sp>
      <p:sp>
        <p:nvSpPr>
          <p:cNvPr id="7" name="txt-34"/>
          <p:cNvSpPr txBox="1"/>
          <p:nvPr/>
        </p:nvSpPr>
        <p:spPr>
          <a:xfrm>
            <a:off x="365760" y="2103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與 Shellshock：開源元件弱點波及全網</a:t>
            </a:r>
            <a:endParaRPr lang="en-US" sz="1200" dirty="0"/>
          </a:p>
        </p:txBody>
      </p:sp>
      <p:sp>
        <p:nvSpPr>
          <p:cNvPr id="8" name="dot-35"/>
          <p:cNvSpPr/>
          <p:nvPr/>
        </p:nvSpPr>
        <p:spPr>
          <a:xfrm>
            <a:off x="2825496" y="2761488"/>
            <a:ext cx="237744" cy="237744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xt-36"/>
          <p:cNvSpPr txBox="1"/>
          <p:nvPr/>
        </p:nvSpPr>
        <p:spPr>
          <a:xfrm>
            <a:off x="1938528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2017</a:t>
            </a:r>
            <a:endParaRPr lang="en-US" sz="1400" dirty="0"/>
          </a:p>
        </p:txBody>
      </p:sp>
      <p:sp>
        <p:nvSpPr>
          <p:cNvPr id="10" name="txt-37"/>
          <p:cNvSpPr txBox="1"/>
          <p:nvPr/>
        </p:nvSpPr>
        <p:spPr>
          <a:xfrm>
            <a:off x="1938528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NotPetya</a:t>
            </a:r>
            <a:endParaRPr lang="en-US" sz="1500" dirty="0"/>
          </a:p>
        </p:txBody>
      </p:sp>
      <p:sp>
        <p:nvSpPr>
          <p:cNvPr id="11" name="txt-38"/>
          <p:cNvSpPr txBox="1"/>
          <p:nvPr/>
        </p:nvSpPr>
        <p:spPr>
          <a:xfrm>
            <a:off x="1938528" y="38404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經軟體更新擴散</a:t>
            </a:r>
            <a:endParaRPr lang="en-US" sz="1200" dirty="0"/>
          </a:p>
        </p:txBody>
      </p:sp>
      <p:sp>
        <p:nvSpPr>
          <p:cNvPr id="12" name="dot-39"/>
          <p:cNvSpPr/>
          <p:nvPr/>
        </p:nvSpPr>
        <p:spPr>
          <a:xfrm>
            <a:off x="4398264" y="2761488"/>
            <a:ext cx="237744" cy="237744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xt-40"/>
          <p:cNvSpPr txBox="1"/>
          <p:nvPr/>
        </p:nvSpPr>
        <p:spPr>
          <a:xfrm>
            <a:off x="3511296" y="1417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2020-12</a:t>
            </a:r>
            <a:endParaRPr lang="en-US" sz="1400" dirty="0"/>
          </a:p>
        </p:txBody>
      </p:sp>
      <p:sp>
        <p:nvSpPr>
          <p:cNvPr id="14" name="txt-41"/>
          <p:cNvSpPr txBox="1"/>
          <p:nvPr/>
        </p:nvSpPr>
        <p:spPr>
          <a:xfrm>
            <a:off x="3511296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SolarWinds</a:t>
            </a:r>
            <a:endParaRPr lang="en-US" sz="1500" dirty="0"/>
          </a:p>
        </p:txBody>
      </p:sp>
      <p:sp>
        <p:nvSpPr>
          <p:cNvPr id="15" name="txt-42"/>
          <p:cNvSpPr txBox="1"/>
          <p:nvPr/>
        </p:nvSpPr>
        <p:spPr>
          <a:xfrm>
            <a:off x="3511296" y="2103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惡意更新，逾 18,000 組織安裝</a:t>
            </a:r>
            <a:endParaRPr lang="en-US" sz="1200" dirty="0"/>
          </a:p>
        </p:txBody>
      </p:sp>
      <p:sp>
        <p:nvSpPr>
          <p:cNvPr id="16" name="dot-43"/>
          <p:cNvSpPr/>
          <p:nvPr/>
        </p:nvSpPr>
        <p:spPr>
          <a:xfrm>
            <a:off x="5971032" y="2761488"/>
            <a:ext cx="237744" cy="237744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xt-44"/>
          <p:cNvSpPr txBox="1"/>
          <p:nvPr/>
        </p:nvSpPr>
        <p:spPr>
          <a:xfrm>
            <a:off x="5084064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2021-05</a:t>
            </a:r>
            <a:endParaRPr lang="en-US" sz="1400" dirty="0"/>
          </a:p>
        </p:txBody>
      </p:sp>
      <p:sp>
        <p:nvSpPr>
          <p:cNvPr id="18" name="txt-45"/>
          <p:cNvSpPr txBox="1"/>
          <p:nvPr/>
        </p:nvSpPr>
        <p:spPr>
          <a:xfrm>
            <a:off x="5084064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EO 14028</a:t>
            </a:r>
            <a:endParaRPr lang="en-US" sz="1500" dirty="0"/>
          </a:p>
        </p:txBody>
      </p:sp>
      <p:sp>
        <p:nvSpPr>
          <p:cNvPr id="19" name="txt-46"/>
          <p:cNvSpPr txBox="1"/>
          <p:nvPr/>
        </p:nvSpPr>
        <p:spPr>
          <a:xfrm>
            <a:off x="5084064" y="38404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要求提供 SBOM</a:t>
            </a:r>
            <a:endParaRPr lang="en-US" sz="1200" dirty="0"/>
          </a:p>
        </p:txBody>
      </p:sp>
      <p:sp>
        <p:nvSpPr>
          <p:cNvPr id="20" name="dot-47"/>
          <p:cNvSpPr/>
          <p:nvPr/>
        </p:nvSpPr>
        <p:spPr>
          <a:xfrm>
            <a:off x="7543800" y="2761488"/>
            <a:ext cx="237744" cy="237744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xt-48"/>
          <p:cNvSpPr txBox="1"/>
          <p:nvPr/>
        </p:nvSpPr>
        <p:spPr>
          <a:xfrm>
            <a:off x="6656832" y="1417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2021-07</a:t>
            </a:r>
            <a:endParaRPr lang="en-US" sz="1400" dirty="0"/>
          </a:p>
        </p:txBody>
      </p:sp>
      <p:sp>
        <p:nvSpPr>
          <p:cNvPr id="22" name="txt-49"/>
          <p:cNvSpPr txBox="1"/>
          <p:nvPr/>
        </p:nvSpPr>
        <p:spPr>
          <a:xfrm>
            <a:off x="6656832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NTIA 最低要素</a:t>
            </a:r>
            <a:endParaRPr lang="en-US" sz="1500" dirty="0"/>
          </a:p>
        </p:txBody>
      </p:sp>
      <p:sp>
        <p:nvSpPr>
          <p:cNvPr id="23" name="txt-50"/>
          <p:cNvSpPr txBox="1"/>
          <p:nvPr/>
        </p:nvSpPr>
        <p:spPr>
          <a:xfrm>
            <a:off x="6656832" y="2103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定義 SBOM 基本欄位</a:t>
            </a:r>
            <a:endParaRPr lang="en-US" sz="1200" dirty="0"/>
          </a:p>
        </p:txBody>
      </p:sp>
      <p:sp>
        <p:nvSpPr>
          <p:cNvPr id="24" name="dot-51"/>
          <p:cNvSpPr/>
          <p:nvPr/>
        </p:nvSpPr>
        <p:spPr>
          <a:xfrm>
            <a:off x="9116568" y="2761488"/>
            <a:ext cx="237744" cy="237744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xt-52"/>
          <p:cNvSpPr txBox="1"/>
          <p:nvPr/>
        </p:nvSpPr>
        <p:spPr>
          <a:xfrm>
            <a:off x="822960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2021-12</a:t>
            </a:r>
            <a:endParaRPr lang="en-US" sz="1400" dirty="0"/>
          </a:p>
        </p:txBody>
      </p:sp>
      <p:sp>
        <p:nvSpPr>
          <p:cNvPr id="26" name="txt-53"/>
          <p:cNvSpPr txBox="1"/>
          <p:nvPr/>
        </p:nvSpPr>
        <p:spPr>
          <a:xfrm>
            <a:off x="8229600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Log4Shell</a:t>
            </a:r>
            <a:endParaRPr lang="en-US" sz="1500" dirty="0"/>
          </a:p>
        </p:txBody>
      </p:sp>
      <p:sp>
        <p:nvSpPr>
          <p:cNvPr id="27" name="txt-54"/>
          <p:cNvSpPr txBox="1"/>
          <p:nvPr/>
        </p:nvSpPr>
        <p:spPr>
          <a:xfrm>
            <a:off x="8229600" y="38404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大家都在問：我們有用嗎？</a:t>
            </a:r>
            <a:endParaRPr lang="en-US" sz="1200" dirty="0"/>
          </a:p>
        </p:txBody>
      </p:sp>
      <p:sp>
        <p:nvSpPr>
          <p:cNvPr id="28" name="dot-55"/>
          <p:cNvSpPr/>
          <p:nvPr/>
        </p:nvSpPr>
        <p:spPr>
          <a:xfrm>
            <a:off x="10689336" y="2761488"/>
            <a:ext cx="237744" cy="237744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xt-56"/>
          <p:cNvSpPr txBox="1"/>
          <p:nvPr/>
        </p:nvSpPr>
        <p:spPr>
          <a:xfrm>
            <a:off x="9802368" y="1417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2024</a:t>
            </a:r>
            <a:endParaRPr lang="en-US" sz="1400" dirty="0"/>
          </a:p>
        </p:txBody>
      </p:sp>
      <p:sp>
        <p:nvSpPr>
          <p:cNvPr id="30" name="txt-57"/>
          <p:cNvSpPr txBox="1"/>
          <p:nvPr/>
        </p:nvSpPr>
        <p:spPr>
          <a:xfrm>
            <a:off x="9802368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XZ Utils 後門</a:t>
            </a:r>
            <a:endParaRPr lang="en-US" sz="1500" dirty="0"/>
          </a:p>
        </p:txBody>
      </p:sp>
      <p:sp>
        <p:nvSpPr>
          <p:cNvPr id="31" name="txt-58"/>
          <p:cNvSpPr txBox="1"/>
          <p:nvPr/>
        </p:nvSpPr>
        <p:spPr>
          <a:xfrm>
            <a:off x="9802368" y="2103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上游維護者被滲透</a:t>
            </a:r>
            <a:endParaRPr lang="en-US" sz="1200" dirty="0"/>
          </a:p>
        </p:txBody>
      </p:sp>
      <p:sp>
        <p:nvSpPr>
          <p:cNvPr id="32" name="card-59"/>
          <p:cNvSpPr/>
          <p:nvPr/>
        </p:nvSpPr>
        <p:spPr>
          <a:xfrm>
            <a:off x="548640" y="4709160"/>
            <a:ext cx="53949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33" name="txt-60"/>
          <p:cNvSpPr txBox="1"/>
          <p:nvPr/>
        </p:nvSpPr>
        <p:spPr>
          <a:xfrm>
            <a:off x="822960" y="484632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96%</a:t>
            </a:r>
            <a:endParaRPr lang="en-US" sz="4400" dirty="0"/>
          </a:p>
        </p:txBody>
      </p:sp>
      <p:sp>
        <p:nvSpPr>
          <p:cNvPr id="34" name="txt-61"/>
          <p:cNvSpPr txBox="1"/>
          <p:nvPr/>
        </p:nvSpPr>
        <p:spPr>
          <a:xfrm>
            <a:off x="3017520" y="48463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商用程式碼庫含開源（Synopsys 2024）</a:t>
            </a:r>
            <a:endParaRPr lang="en-US" sz="1500" dirty="0"/>
          </a:p>
        </p:txBody>
      </p:sp>
      <p:sp>
        <p:nvSpPr>
          <p:cNvPr id="35" name="card-62"/>
          <p:cNvSpPr/>
          <p:nvPr/>
        </p:nvSpPr>
        <p:spPr>
          <a:xfrm>
            <a:off x="6217920" y="4709160"/>
            <a:ext cx="53949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36" name="txt-63"/>
          <p:cNvSpPr txBox="1"/>
          <p:nvPr/>
        </p:nvSpPr>
        <p:spPr>
          <a:xfrm>
            <a:off x="6492240" y="484632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70–90%</a:t>
            </a:r>
            <a:endParaRPr lang="en-US" sz="4400" dirty="0"/>
          </a:p>
        </p:txBody>
      </p:sp>
      <p:sp>
        <p:nvSpPr>
          <p:cNvPr id="37" name="txt-64"/>
          <p:cNvSpPr txBox="1"/>
          <p:nvPr/>
        </p:nvSpPr>
        <p:spPr>
          <a:xfrm>
            <a:off x="8686800" y="48463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典型程式碼庫為開源元件（Linux Foundation 2022）</a:t>
            </a:r>
            <a:endParaRPr lang="en-US" sz="1500" dirty="0"/>
          </a:p>
        </p:txBody>
      </p:sp>
      <p:sp>
        <p:nvSpPr>
          <p:cNvPr id="38" name="txt-65"/>
          <p:cNvSpPr txBox="1"/>
          <p:nvPr/>
        </p:nvSpPr>
        <p:spPr>
          <a:xfrm>
            <a:off x="8778240" y="4343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● 攻擊事件　● 政策</a:t>
            </a:r>
            <a:endParaRPr lang="en-US" sz="1100" dirty="0"/>
          </a:p>
        </p:txBody>
      </p:sp>
      <p:sp>
        <p:nvSpPr>
          <p:cNvPr id="39" name="txt-66"/>
          <p:cNvSpPr txBox="1"/>
          <p:nvPr/>
        </p:nvSpPr>
        <p:spPr>
          <a:xfrm>
            <a:off x="438912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來源：Wikipedia Software supply chain、資策會 MIC（二手資料）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最低要素：SBOM 至少要有哪些欄位</a:t>
            </a:r>
            <a:endParaRPr lang="en-US" sz="3200" dirty="0"/>
          </a:p>
        </p:txBody>
      </p:sp>
      <p:sp>
        <p:nvSpPr>
          <p:cNvPr id="3" name="card-67"/>
          <p:cNvSpPr/>
          <p:nvPr/>
        </p:nvSpPr>
        <p:spPr>
          <a:xfrm>
            <a:off x="548640" y="1371600"/>
            <a:ext cx="146304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</p:sp>
      <p:sp>
        <p:nvSpPr>
          <p:cNvPr id="4" name="txt-68"/>
          <p:cNvSpPr txBox="1"/>
          <p:nvPr/>
        </p:nvSpPr>
        <p:spPr>
          <a:xfrm>
            <a:off x="54864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資料欄位</a:t>
            </a:r>
            <a:endParaRPr lang="en-US" sz="1300" dirty="0"/>
          </a:p>
        </p:txBody>
      </p:sp>
      <p:sp>
        <p:nvSpPr>
          <p:cNvPr id="5" name="card-69"/>
          <p:cNvSpPr/>
          <p:nvPr/>
        </p:nvSpPr>
        <p:spPr>
          <a:xfrm>
            <a:off x="2148840" y="1371600"/>
            <a:ext cx="1463040" cy="411480"/>
          </a:xfrm>
          <a:prstGeom prst="roundRect">
            <a:avLst>
              <a:gd name="adj" fmla="val 48889"/>
            </a:avLst>
          </a:prstGeom>
          <a:solidFill>
            <a:schemeClr val="bg2"/>
          </a:solidFill>
          <a:ln/>
        </p:spPr>
      </p:sp>
      <p:sp>
        <p:nvSpPr>
          <p:cNvPr id="6" name="txt-70"/>
          <p:cNvSpPr txBox="1"/>
          <p:nvPr/>
        </p:nvSpPr>
        <p:spPr>
          <a:xfrm>
            <a:off x="214884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自動化支援</a:t>
            </a:r>
            <a:endParaRPr lang="en-US" sz="1300" dirty="0"/>
          </a:p>
        </p:txBody>
      </p:sp>
      <p:sp>
        <p:nvSpPr>
          <p:cNvPr id="7" name="card-71"/>
          <p:cNvSpPr/>
          <p:nvPr/>
        </p:nvSpPr>
        <p:spPr>
          <a:xfrm>
            <a:off x="3749040" y="1371600"/>
            <a:ext cx="1463040" cy="411480"/>
          </a:xfrm>
          <a:prstGeom prst="roundRect">
            <a:avLst>
              <a:gd name="adj" fmla="val 48889"/>
            </a:avLst>
          </a:prstGeom>
          <a:solidFill>
            <a:schemeClr val="bg2"/>
          </a:solidFill>
          <a:ln/>
        </p:spPr>
      </p:sp>
      <p:sp>
        <p:nvSpPr>
          <p:cNvPr id="8" name="txt-72"/>
          <p:cNvSpPr txBox="1"/>
          <p:nvPr/>
        </p:nvSpPr>
        <p:spPr>
          <a:xfrm>
            <a:off x="3749040" y="1371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實務與流程</a:t>
            </a:r>
            <a:endParaRPr lang="en-US" sz="1300" dirty="0"/>
          </a:p>
        </p:txBody>
      </p:sp>
      <p:sp>
        <p:nvSpPr>
          <p:cNvPr id="9" name="chip-73"/>
          <p:cNvSpPr/>
          <p:nvPr/>
        </p:nvSpPr>
        <p:spPr>
          <a:xfrm>
            <a:off x="548640" y="2011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xt-74"/>
          <p:cNvSpPr txBox="1"/>
          <p:nvPr/>
        </p:nvSpPr>
        <p:spPr>
          <a:xfrm>
            <a:off x="54864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xt-75"/>
          <p:cNvSpPr txBox="1"/>
          <p:nvPr/>
        </p:nvSpPr>
        <p:spPr>
          <a:xfrm>
            <a:off x="1097280" y="2011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供應商名稱</a:t>
            </a:r>
            <a:endParaRPr lang="en-US" sz="1600" dirty="0"/>
          </a:p>
        </p:txBody>
      </p:sp>
      <p:sp>
        <p:nvSpPr>
          <p:cNvPr id="12" name="chip-76"/>
          <p:cNvSpPr/>
          <p:nvPr/>
        </p:nvSpPr>
        <p:spPr>
          <a:xfrm>
            <a:off x="548640" y="25603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xt-77"/>
          <p:cNvSpPr txBox="1"/>
          <p:nvPr/>
        </p:nvSpPr>
        <p:spPr>
          <a:xfrm>
            <a:off x="54864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xt-78"/>
          <p:cNvSpPr txBox="1"/>
          <p:nvPr/>
        </p:nvSpPr>
        <p:spPr>
          <a:xfrm>
            <a:off x="1097280" y="25603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套件名稱</a:t>
            </a:r>
            <a:endParaRPr lang="en-US" sz="1600" dirty="0"/>
          </a:p>
        </p:txBody>
      </p:sp>
      <p:sp>
        <p:nvSpPr>
          <p:cNvPr id="15" name="chip-79"/>
          <p:cNvSpPr/>
          <p:nvPr/>
        </p:nvSpPr>
        <p:spPr>
          <a:xfrm>
            <a:off x="548640" y="3108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xt-80"/>
          <p:cNvSpPr txBox="1"/>
          <p:nvPr/>
        </p:nvSpPr>
        <p:spPr>
          <a:xfrm>
            <a:off x="54864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xt-81"/>
          <p:cNvSpPr txBox="1"/>
          <p:nvPr/>
        </p:nvSpPr>
        <p:spPr>
          <a:xfrm>
            <a:off x="1097280" y="31089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套件版本</a:t>
            </a:r>
            <a:endParaRPr lang="en-US" sz="1600" dirty="0"/>
          </a:p>
        </p:txBody>
      </p:sp>
      <p:sp>
        <p:nvSpPr>
          <p:cNvPr id="18" name="chip-82"/>
          <p:cNvSpPr/>
          <p:nvPr/>
        </p:nvSpPr>
        <p:spPr>
          <a:xfrm>
            <a:off x="548640" y="36576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xt-83"/>
          <p:cNvSpPr txBox="1"/>
          <p:nvPr/>
        </p:nvSpPr>
        <p:spPr>
          <a:xfrm>
            <a:off x="5486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xt-84"/>
          <p:cNvSpPr txBox="1"/>
          <p:nvPr/>
        </p:nvSpPr>
        <p:spPr>
          <a:xfrm>
            <a:off x="1097280" y="36576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其他唯一識別碼（如 purl）</a:t>
            </a:r>
            <a:endParaRPr lang="en-US" sz="1600" dirty="0"/>
          </a:p>
        </p:txBody>
      </p:sp>
      <p:sp>
        <p:nvSpPr>
          <p:cNvPr id="21" name="chip-85"/>
          <p:cNvSpPr/>
          <p:nvPr/>
        </p:nvSpPr>
        <p:spPr>
          <a:xfrm>
            <a:off x="548640" y="4206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xt-86"/>
          <p:cNvSpPr txBox="1"/>
          <p:nvPr/>
        </p:nvSpPr>
        <p:spPr>
          <a:xfrm>
            <a:off x="54864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xt-87"/>
          <p:cNvSpPr txBox="1"/>
          <p:nvPr/>
        </p:nvSpPr>
        <p:spPr>
          <a:xfrm>
            <a:off x="1097280" y="4206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依賴關係</a:t>
            </a:r>
            <a:endParaRPr lang="en-US" sz="1600" dirty="0"/>
          </a:p>
        </p:txBody>
      </p:sp>
      <p:sp>
        <p:nvSpPr>
          <p:cNvPr id="24" name="chip-88"/>
          <p:cNvSpPr/>
          <p:nvPr/>
        </p:nvSpPr>
        <p:spPr>
          <a:xfrm>
            <a:off x="548640" y="47548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xt-89"/>
          <p:cNvSpPr txBox="1"/>
          <p:nvPr/>
        </p:nvSpPr>
        <p:spPr>
          <a:xfrm>
            <a:off x="54864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6" name="txt-90"/>
          <p:cNvSpPr txBox="1"/>
          <p:nvPr/>
        </p:nvSpPr>
        <p:spPr>
          <a:xfrm>
            <a:off x="1097280" y="47548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SBOM 作者</a:t>
            </a:r>
            <a:endParaRPr lang="en-US" sz="1600" dirty="0"/>
          </a:p>
        </p:txBody>
      </p:sp>
      <p:sp>
        <p:nvSpPr>
          <p:cNvPr id="27" name="chip-91"/>
          <p:cNvSpPr/>
          <p:nvPr/>
        </p:nvSpPr>
        <p:spPr>
          <a:xfrm>
            <a:off x="548640" y="53035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xt-92"/>
          <p:cNvSpPr txBox="1"/>
          <p:nvPr/>
        </p:nvSpPr>
        <p:spPr>
          <a:xfrm>
            <a:off x="548640" y="5303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9" name="txt-93"/>
          <p:cNvSpPr txBox="1"/>
          <p:nvPr/>
        </p:nvSpPr>
        <p:spPr>
          <a:xfrm>
            <a:off x="1097280" y="53035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SBOM 產出時間</a:t>
            </a:r>
            <a:endParaRPr lang="en-US" sz="1600" dirty="0"/>
          </a:p>
        </p:txBody>
      </p:sp>
      <p:sp>
        <p:nvSpPr>
          <p:cNvPr id="30" name="card-94"/>
          <p:cNvSpPr/>
          <p:nvPr/>
        </p:nvSpPr>
        <p:spPr>
          <a:xfrm>
            <a:off x="5486400" y="1371600"/>
            <a:ext cx="6126480" cy="4343400"/>
          </a:xfrm>
          <a:prstGeom prst="roundRect">
            <a:avLst>
              <a:gd name="adj" fmla="val 1684"/>
            </a:avLst>
          </a:prstGeom>
          <a:solidFill>
            <a:schemeClr val="tx2"/>
          </a:solidFill>
          <a:ln/>
        </p:spPr>
      </p:sp>
      <p:sp>
        <p:nvSpPr>
          <p:cNvPr id="31" name="code-95"/>
          <p:cNvSpPr txBox="1"/>
          <p:nvPr/>
        </p:nvSpPr>
        <p:spPr>
          <a:xfrm>
            <a:off x="5669280" y="1508760"/>
            <a:ext cx="57607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"metadata": 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"timestamp": "2026-10-01T08:00:00Z",     // 7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"authors": [{ "name": "Build Team" }]    // 6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"components": [{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"supplier": { "name": "..." },           // 1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"Newtonsoft.Json",               // 2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"version": "13.0.3",                     // 3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"purl": "pkg:nuget/Newtonsoft.Json@13.0.3"  // 4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"dependencies": [{ "ref": "...",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"dependsOn": [...] }]   // 5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32" name="txt-96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NTIA 2021 版七項欄位對照 CycloneDX JSON（示意）。CISA 2026 後繼版據稱更嚴格，例如作者不能只寫工具、授權須明確標 NOASSERTION（待原文核對）。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三種格式：工程實務多選 CycloneDX</a:t>
            </a:r>
            <a:endParaRPr lang="en-US" sz="3200" dirty="0"/>
          </a:p>
        </p:txBody>
      </p:sp>
      <p:sp>
        <p:nvSpPr>
          <p:cNvPr id="3" name="card-97"/>
          <p:cNvSpPr/>
          <p:nvPr/>
        </p:nvSpPr>
        <p:spPr>
          <a:xfrm>
            <a:off x="548640" y="137160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4" name="txt-98"/>
          <p:cNvSpPr txBox="1"/>
          <p:nvPr/>
        </p:nvSpPr>
        <p:spPr>
          <a:xfrm>
            <a:off x="822960" y="1554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SPDX</a:t>
            </a:r>
            <a:endParaRPr lang="en-US" sz="2600" dirty="0"/>
          </a:p>
        </p:txBody>
      </p:sp>
      <p:sp>
        <p:nvSpPr>
          <p:cNvPr id="5" name="txt-99"/>
          <p:cNvSpPr txBox="1"/>
          <p:nvPr/>
        </p:nvSpPr>
        <p:spPr>
          <a:xfrm>
            <a:off x="82296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ISO/IEC 5962:2021</a:t>
            </a:r>
            <a:endParaRPr lang="en-US" sz="1400" dirty="0"/>
          </a:p>
        </p:txBody>
      </p:sp>
      <p:sp>
        <p:nvSpPr>
          <p:cNvPr id="6" name="txt-100"/>
          <p:cNvSpPr txBox="1"/>
          <p:nvPr/>
        </p:nvSpPr>
        <p:spPr>
          <a:xfrm>
            <a:off x="82296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Linux Foundation</a:t>
            </a:r>
            <a:endParaRPr lang="en-US" sz="1300" dirty="0"/>
          </a:p>
        </p:txBody>
      </p:sp>
      <p:sp>
        <p:nvSpPr>
          <p:cNvPr id="7" name="txt-101"/>
          <p:cNvSpPr txBox="1"/>
          <p:nvPr/>
        </p:nvSpPr>
        <p:spPr>
          <a:xfrm>
            <a:off x="822960" y="297180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序列化格式最多：Tag:Value、JSON、XML、YAML、RDF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Microsoft sbom-tool 只輸出 SPDX 2.2／3.0</a:t>
            </a:r>
            <a:endParaRPr lang="en-US" sz="1500" dirty="0"/>
          </a:p>
        </p:txBody>
      </p:sp>
      <p:sp>
        <p:nvSpPr>
          <p:cNvPr id="8" name="card-102"/>
          <p:cNvSpPr/>
          <p:nvPr/>
        </p:nvSpPr>
        <p:spPr>
          <a:xfrm>
            <a:off x="4297680" y="137160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/>
        </p:spPr>
      </p:sp>
      <p:sp>
        <p:nvSpPr>
          <p:cNvPr id="9" name="txt-103"/>
          <p:cNvSpPr txBox="1"/>
          <p:nvPr/>
        </p:nvSpPr>
        <p:spPr>
          <a:xfrm>
            <a:off x="4572000" y="1554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CycloneDX</a:t>
            </a:r>
            <a:endParaRPr lang="en-US" sz="2600" dirty="0"/>
          </a:p>
        </p:txBody>
      </p:sp>
      <p:sp>
        <p:nvSpPr>
          <p:cNvPr id="10" name="txt-104"/>
          <p:cNvSpPr txBox="1"/>
          <p:nvPr/>
        </p:nvSpPr>
        <p:spPr>
          <a:xfrm>
            <a:off x="457200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ECMA-424（官方稱）</a:t>
            </a:r>
            <a:endParaRPr lang="en-US" sz="1400" dirty="0"/>
          </a:p>
        </p:txBody>
      </p:sp>
      <p:sp>
        <p:nvSpPr>
          <p:cNvPr id="11" name="txt-105"/>
          <p:cNvSpPr txBox="1"/>
          <p:nvPr/>
        </p:nvSpPr>
        <p:spPr>
          <a:xfrm>
            <a:off x="457200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OWASP</a:t>
            </a:r>
            <a:endParaRPr lang="en-US" sz="1300" dirty="0"/>
          </a:p>
        </p:txBody>
      </p:sp>
      <p:sp>
        <p:nvSpPr>
          <p:cNvPr id="12" name="txt-106"/>
          <p:cNvSpPr txBox="1"/>
          <p:nvPr/>
        </p:nvSpPr>
        <p:spPr>
          <a:xfrm>
            <a:off x="4572000" y="297180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專為 SBOM 設計，內建 VEX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涵蓋 SBOM、SaaSBOM、CBOM 等 10 類 BOM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本次所有工具都能輸出</a:t>
            </a:r>
            <a:endParaRPr lang="en-US" sz="1500" dirty="0"/>
          </a:p>
        </p:txBody>
      </p:sp>
      <p:sp>
        <p:nvSpPr>
          <p:cNvPr id="13" name="card-107"/>
          <p:cNvSpPr/>
          <p:nvPr/>
        </p:nvSpPr>
        <p:spPr>
          <a:xfrm>
            <a:off x="8046720" y="137160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4" name="txt-108"/>
          <p:cNvSpPr txBox="1"/>
          <p:nvPr/>
        </p:nvSpPr>
        <p:spPr>
          <a:xfrm>
            <a:off x="8321040" y="1554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SWID</a:t>
            </a:r>
            <a:endParaRPr lang="en-US" sz="2600" dirty="0"/>
          </a:p>
        </p:txBody>
      </p:sp>
      <p:sp>
        <p:nvSpPr>
          <p:cNvPr id="15" name="txt-109"/>
          <p:cNvSpPr txBox="1"/>
          <p:nvPr/>
        </p:nvSpPr>
        <p:spPr>
          <a:xfrm>
            <a:off x="832104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ISO/IEC 19770-2:2015</a:t>
            </a:r>
            <a:endParaRPr lang="en-US" sz="1400" dirty="0"/>
          </a:p>
        </p:txBody>
      </p:sp>
      <p:sp>
        <p:nvSpPr>
          <p:cNvPr id="16" name="txt-110"/>
          <p:cNvSpPr txBox="1"/>
          <p:nvPr/>
        </p:nvSpPr>
        <p:spPr>
          <a:xfrm>
            <a:off x="832104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NIST 推廣</a:t>
            </a:r>
            <a:endParaRPr lang="en-US" sz="1300" dirty="0"/>
          </a:p>
        </p:txBody>
      </p:sp>
      <p:sp>
        <p:nvSpPr>
          <p:cNvPr id="17" name="txt-111"/>
          <p:cNvSpPr txBox="1"/>
          <p:nvPr/>
        </p:nvSpPr>
        <p:spPr>
          <a:xfrm>
            <a:off x="8321040" y="297180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已安裝軟體的標籤檔：安裝時加、移除時刪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偏資產管理，較少用在建置流程</a:t>
            </a:r>
            <a:endParaRPr lang="en-US" sz="1500" dirty="0"/>
          </a:p>
        </p:txBody>
      </p:sp>
      <p:sp>
        <p:nvSpPr>
          <p:cNvPr id="18" name="card-112"/>
          <p:cNvSpPr/>
          <p:nvPr/>
        </p:nvSpPr>
        <p:spPr>
          <a:xfrm>
            <a:off x="548640" y="5760720"/>
            <a:ext cx="1101852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/>
        </p:spPr>
      </p:sp>
      <p:sp>
        <p:nvSpPr>
          <p:cNvPr id="19" name="txt-113"/>
          <p:cNvSpPr txBox="1"/>
          <p:nvPr/>
        </p:nvSpPr>
        <p:spPr>
          <a:xfrm>
            <a:off x="777240" y="5760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需要 SPDX 時：cyclonedx-cli convert 可轉成 SPDX JSON 2.3，但官方明言可能遺失資訊。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比對靠什麼：purl 對上 CVE</a:t>
            </a:r>
            <a:endParaRPr lang="en-US" sz="3200" dirty="0"/>
          </a:p>
        </p:txBody>
      </p:sp>
      <p:sp>
        <p:nvSpPr>
          <p:cNvPr id="3" name="card-114"/>
          <p:cNvSpPr/>
          <p:nvPr/>
        </p:nvSpPr>
        <p:spPr>
          <a:xfrm>
            <a:off x="548640" y="1371600"/>
            <a:ext cx="110642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txt-115"/>
          <p:cNvSpPr txBox="1"/>
          <p:nvPr/>
        </p:nvSpPr>
        <p:spPr>
          <a:xfrm>
            <a:off x="82296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purl（Package URL）：元件的身分證</a:t>
            </a:r>
            <a:endParaRPr lang="en-US" sz="1600" dirty="0"/>
          </a:p>
        </p:txBody>
      </p:sp>
      <p:sp>
        <p:nvSpPr>
          <p:cNvPr id="5" name="txt-116"/>
          <p:cNvSpPr txBox="1"/>
          <p:nvPr/>
        </p:nvSpPr>
        <p:spPr>
          <a:xfrm>
            <a:off x="822960" y="19659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pkg:</a:t>
            </a:r>
            <a:pPr indent="0" marL="0">
              <a:buNone/>
            </a:pPr>
            <a:r>
              <a:rPr lang="en-US" sz="2800" b="1" dirty="0">
                <a:solidFill>
                  <a:srgbClr val="3D5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nuget</a:t>
            </a:r>
            <a:pPr indent="0" marL="0">
              <a:buNone/>
            </a:pPr>
            <a:r>
              <a:rPr lang="en-US" sz="2800" b="1" dirty="0">
                <a:solidFill>
                  <a:srgbClr val="0F3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2800" b="1" dirty="0">
                <a:solidFill>
                  <a:srgbClr val="0E7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Newtonsoft.Json</a:t>
            </a:r>
            <a:pPr indent="0" marL="0">
              <a:buNone/>
            </a:pPr>
            <a:r>
              <a:rPr lang="en-US" sz="2800" b="1" dirty="0">
                <a:solidFill>
                  <a:srgbClr val="0F3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indent="0" marL="0">
              <a:buNone/>
            </a:pPr>
            <a:r>
              <a:rPr lang="en-US" sz="2800" b="1" dirty="0">
                <a:solidFill>
                  <a:srgbClr val="B7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13.0.3</a:t>
            </a:r>
            <a:endParaRPr lang="en-US" sz="2800" dirty="0"/>
          </a:p>
        </p:txBody>
      </p:sp>
      <p:sp>
        <p:nvSpPr>
          <p:cNvPr id="6" name="txt-117"/>
          <p:cNvSpPr txBox="1"/>
          <p:nvPr/>
        </p:nvSpPr>
        <p:spPr>
          <a:xfrm>
            <a:off x="822960" y="2697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D5A80"/>
                </a:solidFill>
              </a:rPr>
              <a:t>type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 生態系　　</a:t>
            </a:r>
            <a:pPr indent="0" marL="0">
              <a:buNone/>
            </a:pPr>
            <a:r>
              <a:rPr lang="en-US" sz="1400" b="1" dirty="0">
                <a:solidFill>
                  <a:srgbClr val="0E7C6B"/>
                </a:solidFill>
              </a:rPr>
              <a:t>name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 套件名稱　　</a:t>
            </a:r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</a:rPr>
              <a:t>version</a:t>
            </a:r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 版本</a:t>
            </a:r>
            <a:endParaRPr lang="en-US" sz="1400" dirty="0"/>
          </a:p>
        </p:txBody>
      </p:sp>
      <p:sp>
        <p:nvSpPr>
          <p:cNvPr id="7" name="txt-118"/>
          <p:cNvSpPr txBox="1"/>
          <p:nvPr/>
        </p:nvSpPr>
        <p:spPr>
          <a:xfrm>
            <a:off x="7863840" y="19659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完整結構還可帶 namespace、?qualifiers、#subpath；空白等字元需百分比編碼</a:t>
            </a:r>
            <a:endParaRPr lang="en-US" sz="1300" dirty="0"/>
          </a:p>
        </p:txBody>
      </p:sp>
      <p:sp>
        <p:nvSpPr>
          <p:cNvPr id="8" name="iconbg-119"/>
          <p:cNvSpPr/>
          <p:nvPr/>
        </p:nvSpPr>
        <p:spPr>
          <a:xfrm>
            <a:off x="1417320" y="3749040"/>
            <a:ext cx="777240" cy="777240"/>
          </a:xfrm>
          <a:prstGeom prst="ellipse">
            <a:avLst/>
          </a:prstGeom>
          <a:solidFill>
            <a:srgbClr val="0E7C6B"/>
          </a:solidFill>
          <a:ln/>
        </p:spPr>
      </p:sp>
      <p:pic>
        <p:nvPicPr>
          <p:cNvPr id="9" name="icon-12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630" y="3943350"/>
            <a:ext cx="388620" cy="388620"/>
          </a:xfrm>
          <a:prstGeom prst="rect">
            <a:avLst/>
          </a:prstGeom>
        </p:spPr>
      </p:pic>
      <p:sp>
        <p:nvSpPr>
          <p:cNvPr id="10" name="txt-121"/>
          <p:cNvSpPr txBox="1"/>
          <p:nvPr/>
        </p:nvSpPr>
        <p:spPr>
          <a:xfrm>
            <a:off x="548640" y="4617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SBOM 元件</a:t>
            </a:r>
            <a:endParaRPr lang="en-US" sz="1600" dirty="0"/>
          </a:p>
        </p:txBody>
      </p:sp>
      <p:sp>
        <p:nvSpPr>
          <p:cNvPr id="11" name="txt-122"/>
          <p:cNvSpPr txBox="1"/>
          <p:nvPr/>
        </p:nvSpPr>
        <p:spPr>
          <a:xfrm>
            <a:off x="548640" y="4983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每個元件帶 purl</a:t>
            </a:r>
            <a:endParaRPr lang="en-US" sz="1300" dirty="0"/>
          </a:p>
        </p:txBody>
      </p:sp>
      <p:sp>
        <p:nvSpPr>
          <p:cNvPr id="12" name="arrow-123"/>
          <p:cNvSpPr/>
          <p:nvPr/>
        </p:nvSpPr>
        <p:spPr>
          <a:xfrm>
            <a:off x="2697480" y="4133088"/>
            <a:ext cx="1005840" cy="914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3" name="iconbg-124"/>
          <p:cNvSpPr/>
          <p:nvPr/>
        </p:nvSpPr>
        <p:spPr>
          <a:xfrm>
            <a:off x="4251960" y="3749040"/>
            <a:ext cx="777240" cy="777240"/>
          </a:xfrm>
          <a:prstGeom prst="ellipse">
            <a:avLst/>
          </a:prstGeom>
          <a:solidFill>
            <a:srgbClr val="0E7C6B"/>
          </a:solidFill>
          <a:ln/>
        </p:spPr>
      </p:sp>
      <p:pic>
        <p:nvPicPr>
          <p:cNvPr id="14" name="icon-12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270" y="3943350"/>
            <a:ext cx="388620" cy="388620"/>
          </a:xfrm>
          <a:prstGeom prst="rect">
            <a:avLst/>
          </a:prstGeom>
        </p:spPr>
      </p:pic>
      <p:sp>
        <p:nvSpPr>
          <p:cNvPr id="15" name="txt-126"/>
          <p:cNvSpPr txBox="1"/>
          <p:nvPr/>
        </p:nvSpPr>
        <p:spPr>
          <a:xfrm>
            <a:off x="3383280" y="4617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弱點資料庫</a:t>
            </a:r>
            <a:endParaRPr lang="en-US" sz="1600" dirty="0"/>
          </a:p>
        </p:txBody>
      </p:sp>
      <p:sp>
        <p:nvSpPr>
          <p:cNvPr id="16" name="txt-127"/>
          <p:cNvSpPr txBox="1"/>
          <p:nvPr/>
        </p:nvSpPr>
        <p:spPr>
          <a:xfrm>
            <a:off x="3383280" y="4983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OSV、GHSA、NVD</a:t>
            </a:r>
            <a:endParaRPr lang="en-US" sz="1300" dirty="0"/>
          </a:p>
        </p:txBody>
      </p:sp>
      <p:sp>
        <p:nvSpPr>
          <p:cNvPr id="17" name="arrow-128"/>
          <p:cNvSpPr/>
          <p:nvPr/>
        </p:nvSpPr>
        <p:spPr>
          <a:xfrm>
            <a:off x="5532120" y="4133088"/>
            <a:ext cx="1005840" cy="914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8" name="iconbg-129"/>
          <p:cNvSpPr/>
          <p:nvPr/>
        </p:nvSpPr>
        <p:spPr>
          <a:xfrm>
            <a:off x="7086600" y="3749040"/>
            <a:ext cx="777240" cy="777240"/>
          </a:xfrm>
          <a:prstGeom prst="ellipse">
            <a:avLst/>
          </a:prstGeom>
          <a:solidFill>
            <a:srgbClr val="0E7C6B"/>
          </a:solidFill>
          <a:ln/>
        </p:spPr>
      </p:sp>
      <p:pic>
        <p:nvPicPr>
          <p:cNvPr id="19" name="icon-13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0910" y="3943350"/>
            <a:ext cx="388620" cy="388620"/>
          </a:xfrm>
          <a:prstGeom prst="rect">
            <a:avLst/>
          </a:prstGeom>
        </p:spPr>
      </p:pic>
      <p:sp>
        <p:nvSpPr>
          <p:cNvPr id="20" name="txt-131"/>
          <p:cNvSpPr txBox="1"/>
          <p:nvPr/>
        </p:nvSpPr>
        <p:spPr>
          <a:xfrm>
            <a:off x="6217920" y="4617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CVE 編號</a:t>
            </a:r>
            <a:endParaRPr lang="en-US" sz="1600" dirty="0"/>
          </a:p>
        </p:txBody>
      </p:sp>
      <p:sp>
        <p:nvSpPr>
          <p:cNvPr id="21" name="txt-132"/>
          <p:cNvSpPr txBox="1"/>
          <p:nvPr/>
        </p:nvSpPr>
        <p:spPr>
          <a:xfrm>
            <a:off x="6217920" y="4983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MITRE 營運，CNA 分派</a:t>
            </a:r>
            <a:endParaRPr lang="en-US" sz="1300" dirty="0"/>
          </a:p>
        </p:txBody>
      </p:sp>
      <p:sp>
        <p:nvSpPr>
          <p:cNvPr id="22" name="arrow-133"/>
          <p:cNvSpPr/>
          <p:nvPr/>
        </p:nvSpPr>
        <p:spPr>
          <a:xfrm>
            <a:off x="8366760" y="4133088"/>
            <a:ext cx="1005840" cy="914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23" name="iconbg-134"/>
          <p:cNvSpPr/>
          <p:nvPr/>
        </p:nvSpPr>
        <p:spPr>
          <a:xfrm>
            <a:off x="9921240" y="374904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4" name="icon-13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5550" y="3943350"/>
            <a:ext cx="388620" cy="388620"/>
          </a:xfrm>
          <a:prstGeom prst="rect">
            <a:avLst/>
          </a:prstGeom>
        </p:spPr>
      </p:pic>
      <p:sp>
        <p:nvSpPr>
          <p:cNvPr id="25" name="txt-136"/>
          <p:cNvSpPr txBox="1"/>
          <p:nvPr/>
        </p:nvSpPr>
        <p:spPr>
          <a:xfrm>
            <a:off x="9052560" y="4617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VEX 研判</a:t>
            </a:r>
            <a:endParaRPr lang="en-US" sz="1600" dirty="0"/>
          </a:p>
        </p:txBody>
      </p:sp>
      <p:sp>
        <p:nvSpPr>
          <p:cNvPr id="26" name="txt-137"/>
          <p:cNvSpPr txBox="1"/>
          <p:nvPr/>
        </p:nvSpPr>
        <p:spPr>
          <a:xfrm>
            <a:off x="9052560" y="4983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對我是否可利用？</a:t>
            </a:r>
            <a:endParaRPr lang="en-US" sz="1300" dirty="0"/>
          </a:p>
        </p:txBody>
      </p:sp>
      <p:sp>
        <p:nvSpPr>
          <p:cNvPr id="27" name="card-138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BEDEE"/>
          </a:solidFill>
          <a:ln/>
        </p:spPr>
      </p:sp>
      <p:sp>
        <p:nvSpPr>
          <p:cNvPr id="28" name="txt-139"/>
          <p:cNvSpPr txBox="1"/>
          <p:nvPr/>
        </p:nvSpPr>
        <p:spPr>
          <a:xfrm>
            <a:off x="777240" y="55321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24F"/>
                </a:solidFill>
              </a:rPr>
              <a:t>沒有 purl → 掃描器不會比對 → 「0 漏洞」不代表安全。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　實測 SBOM 中 6 個 application 元件就沒有 purl。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六種 SBOM 類型：你掃出來的是哪一種？</a:t>
            </a:r>
            <a:endParaRPr lang="en-US" sz="3200" dirty="0"/>
          </a:p>
        </p:txBody>
      </p:sp>
      <p:sp>
        <p:nvSpPr>
          <p:cNvPr id="3" name="card-140"/>
          <p:cNvSpPr/>
          <p:nvPr/>
        </p:nvSpPr>
        <p:spPr>
          <a:xfrm>
            <a:off x="548640" y="137160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txt-141"/>
          <p:cNvSpPr txBox="1"/>
          <p:nvPr/>
        </p:nvSpPr>
        <p:spPr>
          <a:xfrm>
            <a:off x="777240" y="153619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Design</a:t>
            </a:r>
            <a:endParaRPr lang="en-US" sz="2000" dirty="0"/>
          </a:p>
        </p:txBody>
      </p:sp>
      <p:sp>
        <p:nvSpPr>
          <p:cNvPr id="5" name="txt-142"/>
          <p:cNvSpPr txBox="1"/>
          <p:nvPr/>
        </p:nvSpPr>
        <p:spPr>
          <a:xfrm>
            <a:off x="777240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設計規格中預期的元件</a:t>
            </a:r>
            <a:endParaRPr lang="en-US" sz="1400" dirty="0"/>
          </a:p>
        </p:txBody>
      </p:sp>
      <p:sp>
        <p:nvSpPr>
          <p:cNvPr id="6" name="txt-143"/>
          <p:cNvSpPr txBox="1"/>
          <p:nvPr/>
        </p:nvSpPr>
        <p:spPr>
          <a:xfrm>
            <a:off x="777240" y="2331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可在購買授權前發現問題</a:t>
            </a:r>
            <a:endParaRPr lang="en-US" sz="1300" dirty="0"/>
          </a:p>
        </p:txBody>
      </p:sp>
      <p:sp>
        <p:nvSpPr>
          <p:cNvPr id="7" name="card-144"/>
          <p:cNvSpPr/>
          <p:nvPr/>
        </p:nvSpPr>
        <p:spPr>
          <a:xfrm>
            <a:off x="4297680" y="137160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DCEFEA"/>
          </a:solidFill>
          <a:ln/>
        </p:spPr>
      </p:sp>
      <p:sp>
        <p:nvSpPr>
          <p:cNvPr id="8" name="txt-145"/>
          <p:cNvSpPr txBox="1"/>
          <p:nvPr/>
        </p:nvSpPr>
        <p:spPr>
          <a:xfrm>
            <a:off x="4526280" y="153619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Source</a:t>
            </a:r>
            <a:endParaRPr lang="en-US" sz="2000" dirty="0"/>
          </a:p>
        </p:txBody>
      </p:sp>
      <p:sp>
        <p:nvSpPr>
          <p:cNvPr id="9" name="txt-146"/>
          <p:cNvSpPr txBox="1"/>
          <p:nvPr/>
        </p:nvSpPr>
        <p:spPr>
          <a:xfrm>
            <a:off x="4526280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由原始碼與依賴宣告產生</a:t>
            </a:r>
            <a:endParaRPr lang="en-US" sz="1400" dirty="0"/>
          </a:p>
        </p:txBody>
      </p:sp>
      <p:sp>
        <p:nvSpPr>
          <p:cNvPr id="10" name="txt-147"/>
          <p:cNvSpPr txBox="1"/>
          <p:nvPr/>
        </p:nvSpPr>
        <p:spPr>
          <a:xfrm>
            <a:off x="4526280" y="2331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看得到依賴樹；可能含未出貨元件</a:t>
            </a:r>
            <a:endParaRPr lang="en-US" sz="1300" dirty="0"/>
          </a:p>
        </p:txBody>
      </p:sp>
      <p:sp>
        <p:nvSpPr>
          <p:cNvPr id="11" name="txt-148"/>
          <p:cNvSpPr txBox="1"/>
          <p:nvPr/>
        </p:nvSpPr>
        <p:spPr>
          <a:xfrm>
            <a:off x="45262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本次實務：dotnet-CycloneDX、cyclonedx-npm</a:t>
            </a:r>
            <a:endParaRPr lang="en-US" sz="1200" dirty="0"/>
          </a:p>
        </p:txBody>
      </p:sp>
      <p:sp>
        <p:nvSpPr>
          <p:cNvPr id="12" name="card-149"/>
          <p:cNvSpPr/>
          <p:nvPr/>
        </p:nvSpPr>
        <p:spPr>
          <a:xfrm>
            <a:off x="8046720" y="137160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DCEFEA"/>
          </a:solidFill>
          <a:ln/>
        </p:spPr>
      </p:sp>
      <p:sp>
        <p:nvSpPr>
          <p:cNvPr id="13" name="txt-150"/>
          <p:cNvSpPr txBox="1"/>
          <p:nvPr/>
        </p:nvSpPr>
        <p:spPr>
          <a:xfrm>
            <a:off x="8275320" y="153619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Build</a:t>
            </a:r>
            <a:endParaRPr lang="en-US" sz="2000" dirty="0"/>
          </a:p>
        </p:txBody>
      </p:sp>
      <p:sp>
        <p:nvSpPr>
          <p:cNvPr id="14" name="txt-151"/>
          <p:cNvSpPr txBox="1"/>
          <p:nvPr/>
        </p:nvSpPr>
        <p:spPr>
          <a:xfrm>
            <a:off x="8275320" y="1965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建置流程中產生</a:t>
            </a:r>
            <a:endParaRPr lang="en-US" sz="1400" dirty="0"/>
          </a:p>
        </p:txBody>
      </p:sp>
      <p:sp>
        <p:nvSpPr>
          <p:cNvPr id="15" name="txt-152"/>
          <p:cNvSpPr txBox="1"/>
          <p:nvPr/>
        </p:nvSpPr>
        <p:spPr>
          <a:xfrm>
            <a:off x="8275320" y="2331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正確性較高；可與製品一起簽章</a:t>
            </a:r>
            <a:endParaRPr lang="en-US" sz="1300" dirty="0"/>
          </a:p>
        </p:txBody>
      </p:sp>
      <p:sp>
        <p:nvSpPr>
          <p:cNvPr id="16" name="txt-153"/>
          <p:cNvSpPr txBox="1"/>
          <p:nvPr/>
        </p:nvSpPr>
        <p:spPr>
          <a:xfrm>
            <a:off x="827532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本次實務：（同上，放進建置流程）</a:t>
            </a:r>
            <a:endParaRPr lang="en-US" sz="1200" dirty="0"/>
          </a:p>
        </p:txBody>
      </p:sp>
      <p:sp>
        <p:nvSpPr>
          <p:cNvPr id="17" name="card-154"/>
          <p:cNvSpPr/>
          <p:nvPr/>
        </p:nvSpPr>
        <p:spPr>
          <a:xfrm>
            <a:off x="548640" y="379476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DCEFEA"/>
          </a:solidFill>
          <a:ln/>
        </p:spPr>
      </p:sp>
      <p:sp>
        <p:nvSpPr>
          <p:cNvPr id="18" name="txt-155"/>
          <p:cNvSpPr txBox="1"/>
          <p:nvPr/>
        </p:nvSpPr>
        <p:spPr>
          <a:xfrm>
            <a:off x="777240" y="39593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Analyzed</a:t>
            </a:r>
            <a:endParaRPr lang="en-US" sz="2000" dirty="0"/>
          </a:p>
        </p:txBody>
      </p:sp>
      <p:sp>
        <p:nvSpPr>
          <p:cNvPr id="19" name="txt-156"/>
          <p:cNvSpPr txBox="1"/>
          <p:nvPr/>
        </p:nvSpPr>
        <p:spPr>
          <a:xfrm>
            <a:off x="777240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對建置產物做分析</a:t>
            </a:r>
            <a:endParaRPr lang="en-US" sz="1400" dirty="0"/>
          </a:p>
        </p:txBody>
      </p:sp>
      <p:sp>
        <p:nvSpPr>
          <p:cNvPr id="20" name="txt-157"/>
          <p:cNvSpPr txBox="1"/>
          <p:nvPr/>
        </p:nvSpPr>
        <p:spPr>
          <a:xfrm>
            <a:off x="777240" y="4754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不需原始碼；靠啟發式，可能遺漏</a:t>
            </a:r>
            <a:endParaRPr lang="en-US" sz="1300" dirty="0"/>
          </a:p>
        </p:txBody>
      </p:sp>
      <p:sp>
        <p:nvSpPr>
          <p:cNvPr id="21" name="txt-158"/>
          <p:cNvSpPr txBox="1"/>
          <p:nvPr/>
        </p:nvSpPr>
        <p:spPr>
          <a:xfrm>
            <a:off x="777240" y="53949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本次實務：syft dir:publish、retire.js</a:t>
            </a:r>
            <a:endParaRPr lang="en-US" sz="1200" dirty="0"/>
          </a:p>
        </p:txBody>
      </p:sp>
      <p:sp>
        <p:nvSpPr>
          <p:cNvPr id="22" name="card-159"/>
          <p:cNvSpPr/>
          <p:nvPr/>
        </p:nvSpPr>
        <p:spPr>
          <a:xfrm>
            <a:off x="4297680" y="379476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3" name="txt-160"/>
          <p:cNvSpPr txBox="1"/>
          <p:nvPr/>
        </p:nvSpPr>
        <p:spPr>
          <a:xfrm>
            <a:off x="4526280" y="39593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Deployed</a:t>
            </a:r>
            <a:endParaRPr lang="en-US" sz="2000" dirty="0"/>
          </a:p>
        </p:txBody>
      </p:sp>
      <p:sp>
        <p:nvSpPr>
          <p:cNvPr id="24" name="txt-161"/>
          <p:cNvSpPr txBox="1"/>
          <p:nvPr/>
        </p:nvSpPr>
        <p:spPr>
          <a:xfrm>
            <a:off x="4526280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系統上已安裝軟體清冊</a:t>
            </a:r>
            <a:endParaRPr lang="en-US" sz="1400" dirty="0"/>
          </a:p>
        </p:txBody>
      </p:sp>
      <p:sp>
        <p:nvSpPr>
          <p:cNvPr id="25" name="txt-162"/>
          <p:cNvSpPr txBox="1"/>
          <p:nvPr/>
        </p:nvSpPr>
        <p:spPr>
          <a:xfrm>
            <a:off x="4526280" y="4754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呈現實際安裝與設定</a:t>
            </a:r>
            <a:endParaRPr lang="en-US" sz="1300" dirty="0"/>
          </a:p>
        </p:txBody>
      </p:sp>
      <p:sp>
        <p:nvSpPr>
          <p:cNvPr id="26" name="card-163"/>
          <p:cNvSpPr/>
          <p:nvPr/>
        </p:nvSpPr>
        <p:spPr>
          <a:xfrm>
            <a:off x="8046720" y="379476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7" name="txt-164"/>
          <p:cNvSpPr txBox="1"/>
          <p:nvPr/>
        </p:nvSpPr>
        <p:spPr>
          <a:xfrm>
            <a:off x="8275320" y="39593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Runtime</a:t>
            </a:r>
            <a:endParaRPr lang="en-US" sz="2000" dirty="0"/>
          </a:p>
        </p:txBody>
      </p:sp>
      <p:sp>
        <p:nvSpPr>
          <p:cNvPr id="28" name="txt-165"/>
          <p:cNvSpPr txBox="1"/>
          <p:nvPr/>
        </p:nvSpPr>
        <p:spPr>
          <a:xfrm>
            <a:off x="8275320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插樁記錄實際載入元件</a:t>
            </a:r>
            <a:endParaRPr lang="en-US" sz="1400" dirty="0"/>
          </a:p>
        </p:txBody>
      </p:sp>
      <p:sp>
        <p:nvSpPr>
          <p:cNvPr id="29" name="txt-166"/>
          <p:cNvSpPr txBox="1"/>
          <p:nvPr/>
        </p:nvSpPr>
        <p:spPr>
          <a:xfrm>
            <a:off x="8275320" y="47548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看得到動態載入；需長時間執行</a:t>
            </a:r>
            <a:endParaRPr lang="en-US" sz="1300" dirty="0"/>
          </a:p>
        </p:txBody>
      </p:sp>
      <p:sp>
        <p:nvSpPr>
          <p:cNvPr id="30" name="txt-167"/>
          <p:cNvSpPr txBox="1"/>
          <p:nvPr/>
        </p:nvSpPr>
        <p:spPr>
          <a:xfrm>
            <a:off x="438912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來源：CISA SBOM 類型文件（經 OpenSSF 轉載）；工具與類型的對照為本人推論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VEX：從「有幾個 CVE」到「有幾個真的能被利用」</a:t>
            </a:r>
            <a:endParaRPr lang="en-US" sz="3200" dirty="0"/>
          </a:p>
        </p:txBody>
      </p:sp>
      <p:sp>
        <p:nvSpPr>
          <p:cNvPr id="3" name="txt-168"/>
          <p:cNvSpPr txBox="1"/>
          <p:nvPr/>
        </p:nvSpPr>
        <p:spPr>
          <a:xfrm>
            <a:off x="548640" y="14173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3B3A"/>
                </a:solidFill>
              </a:rPr>
              <a:t>SBOM 說「我有什麼」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E7C6B"/>
                </a:solidFill>
              </a:rPr>
              <a:t>VEX 說「這個 CVE 對我有沒有影響」</a:t>
            </a:r>
            <a:endParaRPr lang="en-US" sz="2000" dirty="0"/>
          </a:p>
        </p:txBody>
      </p:sp>
      <p:sp>
        <p:nvSpPr>
          <p:cNvPr id="4" name="txt-169"/>
          <p:cNvSpPr txBox="1"/>
          <p:nvPr/>
        </p:nvSpPr>
        <p:spPr>
          <a:xfrm>
            <a:off x="548640" y="2468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掃描器找到弱點，不代表在你的設定下可被利用（例如需特定 OS 或功能）。VEX 把研判結果標準化，讓掃描器自動過濾。</a:t>
            </a:r>
            <a:endParaRPr lang="en-US" sz="1400" dirty="0"/>
          </a:p>
        </p:txBody>
      </p:sp>
      <p:sp>
        <p:nvSpPr>
          <p:cNvPr id="5" name="card-170"/>
          <p:cNvSpPr/>
          <p:nvPr/>
        </p:nvSpPr>
        <p:spPr>
          <a:xfrm>
            <a:off x="548640" y="3520440"/>
            <a:ext cx="237744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</p:sp>
      <p:sp>
        <p:nvSpPr>
          <p:cNvPr id="6" name="txt-171"/>
          <p:cNvSpPr txBox="1"/>
          <p:nvPr/>
        </p:nvSpPr>
        <p:spPr>
          <a:xfrm>
            <a:off x="548640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not_affected</a:t>
            </a:r>
            <a:endParaRPr lang="en-US" sz="1300" dirty="0"/>
          </a:p>
        </p:txBody>
      </p:sp>
      <p:sp>
        <p:nvSpPr>
          <p:cNvPr id="7" name="txt-172"/>
          <p:cNvSpPr txBox="1"/>
          <p:nvPr/>
        </p:nvSpPr>
        <p:spPr>
          <a:xfrm>
            <a:off x="3063240" y="3520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不受影響，必須附理由</a:t>
            </a:r>
            <a:endParaRPr lang="en-US" sz="1400" dirty="0"/>
          </a:p>
        </p:txBody>
      </p:sp>
      <p:sp>
        <p:nvSpPr>
          <p:cNvPr id="8" name="card-173"/>
          <p:cNvSpPr/>
          <p:nvPr/>
        </p:nvSpPr>
        <p:spPr>
          <a:xfrm>
            <a:off x="548640" y="4069080"/>
            <a:ext cx="2377440" cy="411480"/>
          </a:xfrm>
          <a:prstGeom prst="roundRect">
            <a:avLst>
              <a:gd name="adj" fmla="val 48889"/>
            </a:avLst>
          </a:prstGeom>
          <a:solidFill>
            <a:schemeClr val="accent3"/>
          </a:solidFill>
          <a:ln/>
        </p:spPr>
      </p:sp>
      <p:sp>
        <p:nvSpPr>
          <p:cNvPr id="9" name="txt-174"/>
          <p:cNvSpPr txBox="1"/>
          <p:nvPr/>
        </p:nvSpPr>
        <p:spPr>
          <a:xfrm>
            <a:off x="548640" y="4069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affected</a:t>
            </a:r>
            <a:endParaRPr lang="en-US" sz="1300" dirty="0"/>
          </a:p>
        </p:txBody>
      </p:sp>
      <p:sp>
        <p:nvSpPr>
          <p:cNvPr id="10" name="txt-175"/>
          <p:cNvSpPr txBox="1"/>
          <p:nvPr/>
        </p:nvSpPr>
        <p:spPr>
          <a:xfrm>
            <a:off x="3063240" y="4069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受影響，需修補</a:t>
            </a:r>
            <a:endParaRPr lang="en-US" sz="1400" dirty="0"/>
          </a:p>
        </p:txBody>
      </p:sp>
      <p:sp>
        <p:nvSpPr>
          <p:cNvPr id="11" name="card-176"/>
          <p:cNvSpPr/>
          <p:nvPr/>
        </p:nvSpPr>
        <p:spPr>
          <a:xfrm>
            <a:off x="548640" y="4617720"/>
            <a:ext cx="2377440" cy="411480"/>
          </a:xfrm>
          <a:prstGeom prst="roundRect">
            <a:avLst>
              <a:gd name="adj" fmla="val 48889"/>
            </a:avLst>
          </a:prstGeom>
          <a:solidFill>
            <a:schemeClr val="accent4"/>
          </a:solidFill>
          <a:ln/>
        </p:spPr>
      </p:sp>
      <p:sp>
        <p:nvSpPr>
          <p:cNvPr id="12" name="txt-177"/>
          <p:cNvSpPr txBox="1"/>
          <p:nvPr/>
        </p:nvSpPr>
        <p:spPr>
          <a:xfrm>
            <a:off x="548640" y="4617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</a:t>
            </a:r>
            <a:endParaRPr lang="en-US" sz="1300" dirty="0"/>
          </a:p>
        </p:txBody>
      </p:sp>
      <p:sp>
        <p:nvSpPr>
          <p:cNvPr id="13" name="txt-178"/>
          <p:cNvSpPr txBox="1"/>
          <p:nvPr/>
        </p:nvSpPr>
        <p:spPr>
          <a:xfrm>
            <a:off x="3063240" y="4617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已修補</a:t>
            </a:r>
            <a:endParaRPr lang="en-US" sz="1400" dirty="0"/>
          </a:p>
        </p:txBody>
      </p:sp>
      <p:sp>
        <p:nvSpPr>
          <p:cNvPr id="14" name="card-179"/>
          <p:cNvSpPr/>
          <p:nvPr/>
        </p:nvSpPr>
        <p:spPr>
          <a:xfrm>
            <a:off x="548640" y="5166360"/>
            <a:ext cx="2377440" cy="411480"/>
          </a:xfrm>
          <a:prstGeom prst="roundRect">
            <a:avLst>
              <a:gd name="adj" fmla="val 48889"/>
            </a:avLst>
          </a:prstGeom>
          <a:solidFill>
            <a:schemeClr val="accent2"/>
          </a:solidFill>
          <a:ln/>
        </p:spPr>
      </p:sp>
      <p:sp>
        <p:nvSpPr>
          <p:cNvPr id="15" name="txt-180"/>
          <p:cNvSpPr txBox="1"/>
          <p:nvPr/>
        </p:nvSpPr>
        <p:spPr>
          <a:xfrm>
            <a:off x="548640" y="5166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under_investigation</a:t>
            </a:r>
            <a:endParaRPr lang="en-US" sz="1300" dirty="0"/>
          </a:p>
        </p:txBody>
      </p:sp>
      <p:sp>
        <p:nvSpPr>
          <p:cNvPr id="16" name="txt-181"/>
          <p:cNvSpPr txBox="1"/>
          <p:nvPr/>
        </p:nvSpPr>
        <p:spPr>
          <a:xfrm>
            <a:off x="3063240" y="5166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調查中，之後再更新</a:t>
            </a:r>
            <a:endParaRPr lang="en-US" sz="1400" dirty="0"/>
          </a:p>
        </p:txBody>
      </p:sp>
      <p:sp>
        <p:nvSpPr>
          <p:cNvPr id="17" name="txt-182"/>
          <p:cNvSpPr txBox="1"/>
          <p:nvPr/>
        </p:nvSpPr>
        <p:spPr>
          <a:xfrm>
            <a:off x="548640" y="5806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三種實作：OpenVEX、CSAF VEX、CycloneDX VEX</a:t>
            </a:r>
            <a:endParaRPr lang="en-US" sz="1300" dirty="0"/>
          </a:p>
        </p:txBody>
      </p:sp>
      <p:sp>
        <p:nvSpPr>
          <p:cNvPr id="18" name="card-183"/>
          <p:cNvSpPr/>
          <p:nvPr/>
        </p:nvSpPr>
        <p:spPr>
          <a:xfrm>
            <a:off x="6126480" y="1417320"/>
            <a:ext cx="5486400" cy="4206240"/>
          </a:xfrm>
          <a:prstGeom prst="roundRect">
            <a:avLst>
              <a:gd name="adj" fmla="val 1739"/>
            </a:avLst>
          </a:prstGeom>
          <a:solidFill>
            <a:schemeClr val="tx2"/>
          </a:solidFill>
          <a:ln/>
        </p:spPr>
      </p:sp>
      <p:sp>
        <p:nvSpPr>
          <p:cNvPr id="19" name="code-184"/>
          <p:cNvSpPr txBox="1"/>
          <p:nvPr/>
        </p:nvSpPr>
        <p:spPr>
          <a:xfrm>
            <a:off x="6309360" y="155448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C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OpenVEX 範例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"@context": "https://openvex.dev/ns/v0.2.0",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"statements": [{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"vulnerability": { "name": "CVE-YYYY-NNNNN" },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"products": [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"@id": "pkg:nuget/Foo@1.2.3" }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"status": "not_affected",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"justification":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"vulnerable_code_not_in_execute_path"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0" name="txt-185"/>
          <p:cNvSpPr txBox="1"/>
          <p:nvPr/>
        </p:nvSpPr>
        <p:spPr>
          <a:xfrm>
            <a:off x="6126480" y="5760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產品以 purl 識別；拼錯欄位會被讀取端默默丟棄，產出端要跑 vexctl validate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186"/>
          <p:cNvSpPr txBox="1"/>
          <p:nvPr/>
        </p:nvSpPr>
        <p:spPr>
          <a:xfrm>
            <a:off x="731520" y="14630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02</a:t>
            </a:r>
            <a:endParaRPr lang="en-US" sz="7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流程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8404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SBOM 不是一次性文件：每次建置重產，弱點資料庫每天都在變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生命週期全景</a:t>
            </a:r>
            <a:endParaRPr lang="en-US" sz="3200" dirty="0"/>
          </a:p>
        </p:txBody>
      </p:sp>
      <p:sp>
        <p:nvSpPr>
          <p:cNvPr id="3" name="card-187"/>
          <p:cNvSpPr/>
          <p:nvPr/>
        </p:nvSpPr>
        <p:spPr>
          <a:xfrm>
            <a:off x="548640" y="1463040"/>
            <a:ext cx="1691640" cy="32918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4" name="chip-188"/>
          <p:cNvSpPr/>
          <p:nvPr/>
        </p:nvSpPr>
        <p:spPr>
          <a:xfrm>
            <a:off x="658368" y="15727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xt-189"/>
          <p:cNvSpPr txBox="1"/>
          <p:nvPr/>
        </p:nvSpPr>
        <p:spPr>
          <a:xfrm>
            <a:off x="65836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iconbg-190"/>
          <p:cNvSpPr/>
          <p:nvPr/>
        </p:nvSpPr>
        <p:spPr>
          <a:xfrm>
            <a:off x="1005840" y="1965960"/>
            <a:ext cx="777240" cy="777240"/>
          </a:xfrm>
          <a:prstGeom prst="ellipse">
            <a:avLst/>
          </a:prstGeom>
          <a:solidFill>
            <a:srgbClr val="0E7C6B"/>
          </a:solidFill>
          <a:ln/>
        </p:spPr>
      </p:sp>
      <p:pic>
        <p:nvPicPr>
          <p:cNvPr id="7" name="icon-19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150" y="2160270"/>
            <a:ext cx="388620" cy="388620"/>
          </a:xfrm>
          <a:prstGeom prst="rect">
            <a:avLst/>
          </a:prstGeom>
        </p:spPr>
      </p:pic>
      <p:sp>
        <p:nvSpPr>
          <p:cNvPr id="8" name="txt-192"/>
          <p:cNvSpPr txBox="1"/>
          <p:nvPr/>
        </p:nvSpPr>
        <p:spPr>
          <a:xfrm>
            <a:off x="640080" y="28803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產生</a:t>
            </a:r>
            <a:endParaRPr lang="en-US" sz="1800" dirty="0"/>
          </a:p>
        </p:txBody>
      </p:sp>
      <p:sp>
        <p:nvSpPr>
          <p:cNvPr id="9" name="txt-193"/>
          <p:cNvSpPr txBox="1"/>
          <p:nvPr/>
        </p:nvSpPr>
        <p:spPr>
          <a:xfrm>
            <a:off x="685800" y="333756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syft、dotnet-CycloneDX、cyclonedx-npm、retire.js</a:t>
            </a:r>
            <a:endParaRPr lang="en-US" sz="1200" dirty="0"/>
          </a:p>
        </p:txBody>
      </p:sp>
      <p:sp>
        <p:nvSpPr>
          <p:cNvPr id="10" name="arrow-194"/>
          <p:cNvSpPr/>
          <p:nvPr/>
        </p:nvSpPr>
        <p:spPr>
          <a:xfrm>
            <a:off x="2249424" y="3108960"/>
            <a:ext cx="164592" cy="914"/>
          </a:xfrm>
          <a:prstGeom prst="line">
            <a:avLst/>
          </a:prstGeom>
          <a:noFill/>
          <a:ln w="25400">
            <a:solidFill>
              <a:srgbClr val="0F3B3A"/>
            </a:solidFill>
            <a:prstDash val="solid"/>
            <a:tailEnd type="triangle"/>
          </a:ln>
        </p:spPr>
      </p:sp>
      <p:sp>
        <p:nvSpPr>
          <p:cNvPr id="11" name="card-195"/>
          <p:cNvSpPr/>
          <p:nvPr/>
        </p:nvSpPr>
        <p:spPr>
          <a:xfrm>
            <a:off x="2423160" y="1463040"/>
            <a:ext cx="1691640" cy="32918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2" name="chip-196"/>
          <p:cNvSpPr/>
          <p:nvPr/>
        </p:nvSpPr>
        <p:spPr>
          <a:xfrm>
            <a:off x="2532888" y="15727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xt-197"/>
          <p:cNvSpPr txBox="1"/>
          <p:nvPr/>
        </p:nvSpPr>
        <p:spPr>
          <a:xfrm>
            <a:off x="253288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iconbg-198"/>
          <p:cNvSpPr/>
          <p:nvPr/>
        </p:nvSpPr>
        <p:spPr>
          <a:xfrm>
            <a:off x="2880360" y="1965960"/>
            <a:ext cx="777240" cy="777240"/>
          </a:xfrm>
          <a:prstGeom prst="ellipse">
            <a:avLst/>
          </a:prstGeom>
          <a:solidFill>
            <a:srgbClr val="0E7C6B"/>
          </a:solidFill>
          <a:ln/>
        </p:spPr>
      </p:sp>
      <p:pic>
        <p:nvPicPr>
          <p:cNvPr id="15" name="icon-19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670" y="2160270"/>
            <a:ext cx="388620" cy="388620"/>
          </a:xfrm>
          <a:prstGeom prst="rect">
            <a:avLst/>
          </a:prstGeom>
        </p:spPr>
      </p:pic>
      <p:sp>
        <p:nvSpPr>
          <p:cNvPr id="16" name="txt-200"/>
          <p:cNvSpPr txBox="1"/>
          <p:nvPr/>
        </p:nvSpPr>
        <p:spPr>
          <a:xfrm>
            <a:off x="2514600" y="28803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驗證</a:t>
            </a:r>
            <a:endParaRPr lang="en-US" sz="1800" dirty="0"/>
          </a:p>
        </p:txBody>
      </p:sp>
      <p:sp>
        <p:nvSpPr>
          <p:cNvPr id="17" name="txt-201"/>
          <p:cNvSpPr txBox="1"/>
          <p:nvPr/>
        </p:nvSpPr>
        <p:spPr>
          <a:xfrm>
            <a:off x="2560320" y="333756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cyclonedx-cli validate、sbom-tools validate</a:t>
            </a:r>
            <a:endParaRPr lang="en-US" sz="1200" dirty="0"/>
          </a:p>
        </p:txBody>
      </p:sp>
      <p:sp>
        <p:nvSpPr>
          <p:cNvPr id="18" name="arrow-202"/>
          <p:cNvSpPr/>
          <p:nvPr/>
        </p:nvSpPr>
        <p:spPr>
          <a:xfrm>
            <a:off x="4123944" y="3108960"/>
            <a:ext cx="164592" cy="914"/>
          </a:xfrm>
          <a:prstGeom prst="line">
            <a:avLst/>
          </a:prstGeom>
          <a:noFill/>
          <a:ln w="25400">
            <a:solidFill>
              <a:srgbClr val="0F3B3A"/>
            </a:solidFill>
            <a:prstDash val="solid"/>
            <a:tailEnd type="triangle"/>
          </a:ln>
        </p:spPr>
      </p:sp>
      <p:sp>
        <p:nvSpPr>
          <p:cNvPr id="19" name="card-203"/>
          <p:cNvSpPr/>
          <p:nvPr/>
        </p:nvSpPr>
        <p:spPr>
          <a:xfrm>
            <a:off x="4297680" y="1463040"/>
            <a:ext cx="1691640" cy="32918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0" name="chip-204"/>
          <p:cNvSpPr/>
          <p:nvPr/>
        </p:nvSpPr>
        <p:spPr>
          <a:xfrm>
            <a:off x="4407408" y="15727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1" name="txt-205"/>
          <p:cNvSpPr txBox="1"/>
          <p:nvPr/>
        </p:nvSpPr>
        <p:spPr>
          <a:xfrm>
            <a:off x="440740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iconbg-206"/>
          <p:cNvSpPr/>
          <p:nvPr/>
        </p:nvSpPr>
        <p:spPr>
          <a:xfrm>
            <a:off x="4754880" y="1965960"/>
            <a:ext cx="777240" cy="777240"/>
          </a:xfrm>
          <a:prstGeom prst="ellipse">
            <a:avLst/>
          </a:prstGeom>
          <a:solidFill>
            <a:srgbClr val="0E7C6B"/>
          </a:solidFill>
          <a:ln/>
        </p:spPr>
      </p:sp>
      <p:pic>
        <p:nvPicPr>
          <p:cNvPr id="23" name="icon-20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190" y="2160270"/>
            <a:ext cx="388620" cy="388620"/>
          </a:xfrm>
          <a:prstGeom prst="rect">
            <a:avLst/>
          </a:prstGeom>
        </p:spPr>
      </p:pic>
      <p:sp>
        <p:nvSpPr>
          <p:cNvPr id="24" name="txt-208"/>
          <p:cNvSpPr txBox="1"/>
          <p:nvPr/>
        </p:nvSpPr>
        <p:spPr>
          <a:xfrm>
            <a:off x="4389120" y="28803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合併</a:t>
            </a:r>
            <a:endParaRPr lang="en-US" sz="1800" dirty="0"/>
          </a:p>
        </p:txBody>
      </p:sp>
      <p:sp>
        <p:nvSpPr>
          <p:cNvPr id="25" name="txt-209"/>
          <p:cNvSpPr txBox="1"/>
          <p:nvPr/>
        </p:nvSpPr>
        <p:spPr>
          <a:xfrm>
            <a:off x="4434840" y="333756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cyclonedx-cli merge（後端 + 前端）</a:t>
            </a:r>
            <a:endParaRPr lang="en-US" sz="1200" dirty="0"/>
          </a:p>
        </p:txBody>
      </p:sp>
      <p:sp>
        <p:nvSpPr>
          <p:cNvPr id="26" name="arrow-210"/>
          <p:cNvSpPr/>
          <p:nvPr/>
        </p:nvSpPr>
        <p:spPr>
          <a:xfrm>
            <a:off x="5998464" y="3108960"/>
            <a:ext cx="164592" cy="914"/>
          </a:xfrm>
          <a:prstGeom prst="line">
            <a:avLst/>
          </a:prstGeom>
          <a:noFill/>
          <a:ln w="25400">
            <a:solidFill>
              <a:srgbClr val="0F3B3A"/>
            </a:solidFill>
            <a:prstDash val="solid"/>
            <a:tailEnd type="triangle"/>
          </a:ln>
        </p:spPr>
      </p:sp>
      <p:sp>
        <p:nvSpPr>
          <p:cNvPr id="27" name="card-211"/>
          <p:cNvSpPr/>
          <p:nvPr/>
        </p:nvSpPr>
        <p:spPr>
          <a:xfrm>
            <a:off x="6172200" y="1463040"/>
            <a:ext cx="1691640" cy="32918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8" name="chip-212"/>
          <p:cNvSpPr/>
          <p:nvPr/>
        </p:nvSpPr>
        <p:spPr>
          <a:xfrm>
            <a:off x="6281928" y="15727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9" name="txt-213"/>
          <p:cNvSpPr txBox="1"/>
          <p:nvPr/>
        </p:nvSpPr>
        <p:spPr>
          <a:xfrm>
            <a:off x="628192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iconbg-214"/>
          <p:cNvSpPr/>
          <p:nvPr/>
        </p:nvSpPr>
        <p:spPr>
          <a:xfrm>
            <a:off x="6629400" y="1965960"/>
            <a:ext cx="777240" cy="777240"/>
          </a:xfrm>
          <a:prstGeom prst="ellipse">
            <a:avLst/>
          </a:prstGeom>
          <a:solidFill>
            <a:srgbClr val="0E7C6B"/>
          </a:solidFill>
          <a:ln/>
        </p:spPr>
      </p:sp>
      <p:pic>
        <p:nvPicPr>
          <p:cNvPr id="31" name="icon-21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710" y="2160270"/>
            <a:ext cx="388620" cy="388620"/>
          </a:xfrm>
          <a:prstGeom prst="rect">
            <a:avLst/>
          </a:prstGeom>
        </p:spPr>
      </p:pic>
      <p:sp>
        <p:nvSpPr>
          <p:cNvPr id="32" name="txt-216"/>
          <p:cNvSpPr txBox="1"/>
          <p:nvPr/>
        </p:nvSpPr>
        <p:spPr>
          <a:xfrm>
            <a:off x="6263640" y="28803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掃描</a:t>
            </a:r>
            <a:endParaRPr lang="en-US" sz="1800" dirty="0"/>
          </a:p>
        </p:txBody>
      </p:sp>
      <p:sp>
        <p:nvSpPr>
          <p:cNvPr id="33" name="txt-217"/>
          <p:cNvSpPr txBox="1"/>
          <p:nvPr/>
        </p:nvSpPr>
        <p:spPr>
          <a:xfrm>
            <a:off x="6309360" y="333756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grype、trivy：弱點 + 授權</a:t>
            </a:r>
            <a:endParaRPr lang="en-US" sz="1200" dirty="0"/>
          </a:p>
        </p:txBody>
      </p:sp>
      <p:sp>
        <p:nvSpPr>
          <p:cNvPr id="34" name="arrow-218"/>
          <p:cNvSpPr/>
          <p:nvPr/>
        </p:nvSpPr>
        <p:spPr>
          <a:xfrm>
            <a:off x="7872984" y="3108960"/>
            <a:ext cx="164592" cy="914"/>
          </a:xfrm>
          <a:prstGeom prst="line">
            <a:avLst/>
          </a:prstGeom>
          <a:noFill/>
          <a:ln w="25400">
            <a:solidFill>
              <a:srgbClr val="0F3B3A"/>
            </a:solidFill>
            <a:prstDash val="solid"/>
            <a:tailEnd type="triangle"/>
          </a:ln>
        </p:spPr>
      </p:sp>
      <p:sp>
        <p:nvSpPr>
          <p:cNvPr id="35" name="card-219"/>
          <p:cNvSpPr/>
          <p:nvPr/>
        </p:nvSpPr>
        <p:spPr>
          <a:xfrm>
            <a:off x="8046720" y="1463040"/>
            <a:ext cx="1691640" cy="3291840"/>
          </a:xfrm>
          <a:prstGeom prst="roundRect">
            <a:avLst>
              <a:gd name="adj" fmla="val 6486"/>
            </a:avLst>
          </a:prstGeom>
          <a:solidFill>
            <a:srgbClr val="FDF3E3"/>
          </a:solidFill>
          <a:ln/>
        </p:spPr>
      </p:sp>
      <p:sp>
        <p:nvSpPr>
          <p:cNvPr id="36" name="chip-220"/>
          <p:cNvSpPr/>
          <p:nvPr/>
        </p:nvSpPr>
        <p:spPr>
          <a:xfrm>
            <a:off x="8156448" y="15727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7" name="txt-221"/>
          <p:cNvSpPr txBox="1"/>
          <p:nvPr/>
        </p:nvSpPr>
        <p:spPr>
          <a:xfrm>
            <a:off x="815644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8" name="iconbg-222"/>
          <p:cNvSpPr/>
          <p:nvPr/>
        </p:nvSpPr>
        <p:spPr>
          <a:xfrm>
            <a:off x="8503920" y="196596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9" name="icon-22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8230" y="2160270"/>
            <a:ext cx="388620" cy="388620"/>
          </a:xfrm>
          <a:prstGeom prst="rect">
            <a:avLst/>
          </a:prstGeom>
        </p:spPr>
      </p:pic>
      <p:sp>
        <p:nvSpPr>
          <p:cNvPr id="40" name="txt-224"/>
          <p:cNvSpPr txBox="1"/>
          <p:nvPr/>
        </p:nvSpPr>
        <p:spPr>
          <a:xfrm>
            <a:off x="8138160" y="28803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VEX 研判</a:t>
            </a:r>
            <a:endParaRPr lang="en-US" sz="1800" dirty="0"/>
          </a:p>
        </p:txBody>
      </p:sp>
      <p:sp>
        <p:nvSpPr>
          <p:cNvPr id="41" name="txt-225"/>
          <p:cNvSpPr txBox="1"/>
          <p:nvPr/>
        </p:nvSpPr>
        <p:spPr>
          <a:xfrm>
            <a:off x="8183880" y="333756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vexctl、trivy --vex</a:t>
            </a:r>
            <a:endParaRPr lang="en-US" sz="1200" dirty="0"/>
          </a:p>
        </p:txBody>
      </p:sp>
      <p:sp>
        <p:nvSpPr>
          <p:cNvPr id="42" name="arrow-226"/>
          <p:cNvSpPr/>
          <p:nvPr/>
        </p:nvSpPr>
        <p:spPr>
          <a:xfrm>
            <a:off x="9747504" y="3108960"/>
            <a:ext cx="164592" cy="914"/>
          </a:xfrm>
          <a:prstGeom prst="line">
            <a:avLst/>
          </a:prstGeom>
          <a:noFill/>
          <a:ln w="25400">
            <a:solidFill>
              <a:srgbClr val="0F3B3A"/>
            </a:solidFill>
            <a:prstDash val="solid"/>
            <a:tailEnd type="triangle"/>
          </a:ln>
        </p:spPr>
      </p:sp>
      <p:sp>
        <p:nvSpPr>
          <p:cNvPr id="43" name="card-227"/>
          <p:cNvSpPr/>
          <p:nvPr/>
        </p:nvSpPr>
        <p:spPr>
          <a:xfrm>
            <a:off x="9921240" y="1463040"/>
            <a:ext cx="1691640" cy="32918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44" name="chip-228"/>
          <p:cNvSpPr/>
          <p:nvPr/>
        </p:nvSpPr>
        <p:spPr>
          <a:xfrm>
            <a:off x="10030968" y="15727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5" name="txt-229"/>
          <p:cNvSpPr txBox="1"/>
          <p:nvPr/>
        </p:nvSpPr>
        <p:spPr>
          <a:xfrm>
            <a:off x="10030968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46" name="iconbg-230"/>
          <p:cNvSpPr/>
          <p:nvPr/>
        </p:nvSpPr>
        <p:spPr>
          <a:xfrm>
            <a:off x="10378440" y="1965960"/>
            <a:ext cx="777240" cy="777240"/>
          </a:xfrm>
          <a:prstGeom prst="ellipse">
            <a:avLst/>
          </a:prstGeom>
          <a:solidFill>
            <a:srgbClr val="0E7C6B"/>
          </a:solidFill>
          <a:ln/>
        </p:spPr>
      </p:sp>
      <p:pic>
        <p:nvPicPr>
          <p:cNvPr id="47" name="icon-23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0" y="2160270"/>
            <a:ext cx="388620" cy="388620"/>
          </a:xfrm>
          <a:prstGeom prst="rect">
            <a:avLst/>
          </a:prstGeom>
        </p:spPr>
      </p:pic>
      <p:sp>
        <p:nvSpPr>
          <p:cNvPr id="48" name="txt-232"/>
          <p:cNvSpPr txBox="1"/>
          <p:nvPr/>
        </p:nvSpPr>
        <p:spPr>
          <a:xfrm>
            <a:off x="10012680" y="28803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保存／發布</a:t>
            </a:r>
            <a:endParaRPr lang="en-US" sz="1800" dirty="0"/>
          </a:p>
        </p:txBody>
      </p:sp>
      <p:sp>
        <p:nvSpPr>
          <p:cNvPr id="49" name="txt-233"/>
          <p:cNvSpPr txBox="1"/>
          <p:nvPr/>
        </p:nvSpPr>
        <p:spPr>
          <a:xfrm>
            <a:off x="10058400" y="333756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命名慣例、簽章、版本追蹤</a:t>
            </a:r>
            <a:endParaRPr lang="en-US" sz="1200" dirty="0"/>
          </a:p>
        </p:txBody>
      </p:sp>
      <p:sp>
        <p:nvSpPr>
          <p:cNvPr id="50" name="card-234"/>
          <p:cNvSpPr/>
          <p:nvPr/>
        </p:nvSpPr>
        <p:spPr>
          <a:xfrm>
            <a:off x="548640" y="5029200"/>
            <a:ext cx="1106424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/>
        </p:spPr>
      </p:sp>
      <p:sp>
        <p:nvSpPr>
          <p:cNvPr id="51" name="txt-235"/>
          <p:cNvSpPr txBox="1"/>
          <p:nvPr/>
        </p:nvSpPr>
        <p:spPr>
          <a:xfrm>
            <a:off x="822960" y="5120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</a:rPr>
              <a:t>兩個迴圈　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① 程式碼變更 → 重新產生 SBOM　② 弱點資料庫更新 → 對既有 SBOM 重掃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CC5B6"/>
                </a:solidFill>
              </a:rPr>
              <a:t>舊版本的 SBOM 不需要重產，但需要被重新掃描。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產生 SBOM 的兩種輸入</a:t>
            </a:r>
            <a:endParaRPr lang="en-US" sz="3200" dirty="0"/>
          </a:p>
        </p:txBody>
      </p:sp>
      <p:sp>
        <p:nvSpPr>
          <p:cNvPr id="3" name="card-236"/>
          <p:cNvSpPr/>
          <p:nvPr/>
        </p:nvSpPr>
        <p:spPr>
          <a:xfrm>
            <a:off x="548640" y="1371600"/>
            <a:ext cx="5394960" cy="48006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4" name="iconbg-237"/>
          <p:cNvSpPr/>
          <p:nvPr/>
        </p:nvSpPr>
        <p:spPr>
          <a:xfrm>
            <a:off x="822960" y="1554480"/>
            <a:ext cx="731520" cy="731520"/>
          </a:xfrm>
          <a:prstGeom prst="ellipse">
            <a:avLst/>
          </a:prstGeom>
          <a:solidFill>
            <a:srgbClr val="0E7C6B"/>
          </a:solidFill>
          <a:ln/>
        </p:spPr>
      </p:sp>
      <p:pic>
        <p:nvPicPr>
          <p:cNvPr id="5" name="icon-23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37360"/>
            <a:ext cx="365760" cy="365760"/>
          </a:xfrm>
          <a:prstGeom prst="rect">
            <a:avLst/>
          </a:prstGeom>
        </p:spPr>
      </p:pic>
      <p:sp>
        <p:nvSpPr>
          <p:cNvPr id="6" name="txt-239"/>
          <p:cNvSpPr txBox="1"/>
          <p:nvPr/>
        </p:nvSpPr>
        <p:spPr>
          <a:xfrm>
            <a:off x="1737360" y="15544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從專案檔產生</a:t>
            </a:r>
            <a:endParaRPr lang="en-US" sz="2200" dirty="0"/>
          </a:p>
        </p:txBody>
      </p:sp>
      <p:sp>
        <p:nvSpPr>
          <p:cNvPr id="7" name="txt-240"/>
          <p:cNvSpPr txBox="1"/>
          <p:nvPr/>
        </p:nvSpPr>
        <p:spPr>
          <a:xfrm>
            <a:off x="1737360" y="1965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偏 Source／Build</a:t>
            </a:r>
            <a:endParaRPr lang="en-US" sz="1300" dirty="0"/>
          </a:p>
        </p:txBody>
      </p:sp>
      <p:sp>
        <p:nvSpPr>
          <p:cNvPr id="8" name="txt-241"/>
          <p:cNvSpPr txBox="1"/>
          <p:nvPr/>
        </p:nvSpPr>
        <p:spPr>
          <a:xfrm>
            <a:off x="822960" y="2514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7C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dotnet-CycloneDX、cyclonedx-npm、sbom-tool -bc</a:t>
            </a:r>
            <a:endParaRPr lang="en-US" sz="1300" dirty="0"/>
          </a:p>
        </p:txBody>
      </p:sp>
      <p:sp>
        <p:nvSpPr>
          <p:cNvPr id="9" name="txt-242"/>
          <p:cNvSpPr txBox="1"/>
          <p:nvPr/>
        </p:nvSpPr>
        <p:spPr>
          <a:xfrm>
            <a:off x="822960" y="3063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優點</a:t>
            </a:r>
            <a:endParaRPr lang="en-US" sz="1400" dirty="0"/>
          </a:p>
        </p:txBody>
      </p:sp>
      <p:sp>
        <p:nvSpPr>
          <p:cNvPr id="10" name="txt-243"/>
          <p:cNvSpPr txBox="1"/>
          <p:nvPr/>
        </p:nvSpPr>
        <p:spPr>
          <a:xfrm>
            <a:off x="822960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有完整依賴樹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.NET 套件授權資訊較完整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可在建置前執行</a:t>
            </a:r>
            <a:endParaRPr lang="en-US" sz="1500" dirty="0"/>
          </a:p>
        </p:txBody>
      </p:sp>
      <p:sp>
        <p:nvSpPr>
          <p:cNvPr id="11" name="txt-244"/>
          <p:cNvSpPr txBox="1"/>
          <p:nvPr/>
        </p:nvSpPr>
        <p:spPr>
          <a:xfrm>
            <a:off x="822960" y="4617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注意</a:t>
            </a:r>
            <a:endParaRPr lang="en-US" sz="1400" dirty="0"/>
          </a:p>
        </p:txBody>
      </p:sp>
      <p:sp>
        <p:nvSpPr>
          <p:cNvPr id="12" name="txt-245"/>
          <p:cNvSpPr txBox="1"/>
          <p:nvPr/>
        </p:nvSpPr>
        <p:spPr>
          <a:xfrm>
            <a:off x="822960" y="4937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可能含未出貨套件（用 -ef／-t 排除）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需要 dotnet restore 與網路</a:t>
            </a:r>
            <a:endParaRPr lang="en-US" sz="1500" dirty="0"/>
          </a:p>
        </p:txBody>
      </p:sp>
      <p:sp>
        <p:nvSpPr>
          <p:cNvPr id="13" name="card-246"/>
          <p:cNvSpPr/>
          <p:nvPr/>
        </p:nvSpPr>
        <p:spPr>
          <a:xfrm>
            <a:off x="6172200" y="1371600"/>
            <a:ext cx="5394960" cy="48006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14" name="iconbg-247"/>
          <p:cNvSpPr/>
          <p:nvPr/>
        </p:nvSpPr>
        <p:spPr>
          <a:xfrm>
            <a:off x="6446520" y="1554480"/>
            <a:ext cx="731520" cy="73152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5" name="icon-24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37360"/>
            <a:ext cx="365760" cy="365760"/>
          </a:xfrm>
          <a:prstGeom prst="rect">
            <a:avLst/>
          </a:prstGeom>
        </p:spPr>
      </p:pic>
      <p:sp>
        <p:nvSpPr>
          <p:cNvPr id="16" name="txt-249"/>
          <p:cNvSpPr txBox="1"/>
          <p:nvPr/>
        </p:nvSpPr>
        <p:spPr>
          <a:xfrm>
            <a:off x="7360920" y="15544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從建置產物分析</a:t>
            </a:r>
            <a:endParaRPr lang="en-US" sz="2200" dirty="0"/>
          </a:p>
        </p:txBody>
      </p:sp>
      <p:sp>
        <p:nvSpPr>
          <p:cNvPr id="17" name="txt-250"/>
          <p:cNvSpPr txBox="1"/>
          <p:nvPr/>
        </p:nvSpPr>
        <p:spPr>
          <a:xfrm>
            <a:off x="7360920" y="1965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偏 Analyzed</a:t>
            </a:r>
            <a:endParaRPr lang="en-US" sz="1300" dirty="0"/>
          </a:p>
        </p:txBody>
      </p:sp>
      <p:sp>
        <p:nvSpPr>
          <p:cNvPr id="18" name="txt-251"/>
          <p:cNvSpPr txBox="1"/>
          <p:nvPr/>
        </p:nvSpPr>
        <p:spPr>
          <a:xfrm>
            <a:off x="6446520" y="2514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5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syft dir:publish、retire.js、trivy image</a:t>
            </a:r>
            <a:endParaRPr lang="en-US" sz="1300" dirty="0"/>
          </a:p>
        </p:txBody>
      </p:sp>
      <p:sp>
        <p:nvSpPr>
          <p:cNvPr id="19" name="txt-252"/>
          <p:cNvSpPr txBox="1"/>
          <p:nvPr/>
        </p:nvSpPr>
        <p:spPr>
          <a:xfrm>
            <a:off x="6446520" y="3063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優點</a:t>
            </a:r>
            <a:endParaRPr lang="en-US" sz="1400" dirty="0"/>
          </a:p>
        </p:txBody>
      </p:sp>
      <p:sp>
        <p:nvSpPr>
          <p:cNvPr id="20" name="txt-253"/>
          <p:cNvSpPr txBox="1"/>
          <p:nvPr/>
        </p:nvSpPr>
        <p:spPr>
          <a:xfrm>
            <a:off x="6446520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貼近實際部署內容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抓得到 vendored 檔案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別人交付的產物也能掃</a:t>
            </a:r>
            <a:endParaRPr lang="en-US" sz="1500" dirty="0"/>
          </a:p>
        </p:txBody>
      </p:sp>
      <p:sp>
        <p:nvSpPr>
          <p:cNvPr id="21" name="txt-254"/>
          <p:cNvSpPr txBox="1"/>
          <p:nvPr/>
        </p:nvSpPr>
        <p:spPr>
          <a:xfrm>
            <a:off x="6446520" y="4617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注意</a:t>
            </a:r>
            <a:endParaRPr lang="en-US" sz="1400" dirty="0"/>
          </a:p>
        </p:txBody>
      </p:sp>
      <p:sp>
        <p:nvSpPr>
          <p:cNvPr id="22" name="txt-255"/>
          <p:cNvSpPr txBox="1"/>
          <p:nvPr/>
        </p:nvSpPr>
        <p:spPr>
          <a:xfrm>
            <a:off x="6446520" y="4937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啟發式辨識，可能遺漏或錯誤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掃錯範圍會重複計算（1365 vs 176）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消費 SBOM：弱點與授權是兩件事</a:t>
            </a:r>
            <a:endParaRPr lang="en-US" sz="3200" dirty="0"/>
          </a:p>
        </p:txBody>
      </p:sp>
      <p:sp>
        <p:nvSpPr>
          <p:cNvPr id="3" name="card-256"/>
          <p:cNvSpPr/>
          <p:nvPr/>
        </p:nvSpPr>
        <p:spPr>
          <a:xfrm>
            <a:off x="548640" y="1371600"/>
            <a:ext cx="5394960" cy="48006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4" name="iconbg-257"/>
          <p:cNvSpPr/>
          <p:nvPr/>
        </p:nvSpPr>
        <p:spPr>
          <a:xfrm>
            <a:off x="822960" y="1554480"/>
            <a:ext cx="731520" cy="731520"/>
          </a:xfrm>
          <a:prstGeom prst="ellipse">
            <a:avLst/>
          </a:prstGeom>
          <a:solidFill>
            <a:srgbClr val="C8424F"/>
          </a:solidFill>
          <a:ln/>
        </p:spPr>
      </p:sp>
      <p:pic>
        <p:nvPicPr>
          <p:cNvPr id="5" name="icon-25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37360"/>
            <a:ext cx="365760" cy="365760"/>
          </a:xfrm>
          <a:prstGeom prst="rect">
            <a:avLst/>
          </a:prstGeom>
        </p:spPr>
      </p:pic>
      <p:sp>
        <p:nvSpPr>
          <p:cNvPr id="6" name="txt-259"/>
          <p:cNvSpPr txBox="1"/>
          <p:nvPr/>
        </p:nvSpPr>
        <p:spPr>
          <a:xfrm>
            <a:off x="1737360" y="15544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弱點掃描</a:t>
            </a:r>
            <a:endParaRPr lang="en-US" sz="2400" dirty="0"/>
          </a:p>
        </p:txBody>
      </p:sp>
      <p:sp>
        <p:nvSpPr>
          <p:cNvPr id="7" name="txt-260"/>
          <p:cNvSpPr txBox="1"/>
          <p:nvPr/>
        </p:nvSpPr>
        <p:spPr>
          <a:xfrm>
            <a:off x="822960" y="26060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424F"/>
                </a:solidFill>
              </a:rPr>
              <a:t>比對鍵</a:t>
            </a:r>
            <a:endParaRPr lang="en-US" sz="1400" dirty="0"/>
          </a:p>
        </p:txBody>
      </p:sp>
      <p:sp>
        <p:nvSpPr>
          <p:cNvPr id="8" name="txt-261"/>
          <p:cNvSpPr txBox="1"/>
          <p:nvPr/>
        </p:nvSpPr>
        <p:spPr>
          <a:xfrm>
            <a:off x="1874520" y="26060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purl／CPE → 弱點資料庫</a:t>
            </a:r>
            <a:endParaRPr lang="en-US" sz="1500" dirty="0"/>
          </a:p>
        </p:txBody>
      </p:sp>
      <p:sp>
        <p:nvSpPr>
          <p:cNvPr id="9" name="txt-262"/>
          <p:cNvSpPr txBox="1"/>
          <p:nvPr/>
        </p:nvSpPr>
        <p:spPr>
          <a:xfrm>
            <a:off x="822960" y="34747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424F"/>
                </a:solidFill>
              </a:rPr>
              <a:t>工具</a:t>
            </a:r>
            <a:endParaRPr lang="en-US" sz="1400" dirty="0"/>
          </a:p>
        </p:txBody>
      </p:sp>
      <p:sp>
        <p:nvSpPr>
          <p:cNvPr id="10" name="txt-263"/>
          <p:cNvSpPr txBox="1"/>
          <p:nvPr/>
        </p:nvSpPr>
        <p:spPr>
          <a:xfrm>
            <a:off x="1874520" y="34747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grype sbom:&lt;檔&gt;、trivy sbom --scanners vuln</a:t>
            </a:r>
            <a:endParaRPr lang="en-US" sz="1500" dirty="0"/>
          </a:p>
        </p:txBody>
      </p:sp>
      <p:sp>
        <p:nvSpPr>
          <p:cNvPr id="11" name="txt-264"/>
          <p:cNvSpPr txBox="1"/>
          <p:nvPr/>
        </p:nvSpPr>
        <p:spPr>
          <a:xfrm>
            <a:off x="822960" y="43434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424F"/>
                </a:solidFill>
              </a:rPr>
              <a:t>注意</a:t>
            </a:r>
            <a:endParaRPr lang="en-US" sz="1400" dirty="0"/>
          </a:p>
        </p:txBody>
      </p:sp>
      <p:sp>
        <p:nvSpPr>
          <p:cNvPr id="12" name="txt-265"/>
          <p:cNvSpPr txBox="1"/>
          <p:nvPr/>
        </p:nvSpPr>
        <p:spPr>
          <a:xfrm>
            <a:off x="1874520" y="43434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資料庫要更新，並記錄建置時間（結果會隨 DB 變）</a:t>
            </a:r>
            <a:endParaRPr lang="en-US" sz="1500" dirty="0"/>
          </a:p>
        </p:txBody>
      </p:sp>
      <p:sp>
        <p:nvSpPr>
          <p:cNvPr id="13" name="txt-266"/>
          <p:cNvSpPr txBox="1"/>
          <p:nvPr/>
        </p:nvSpPr>
        <p:spPr>
          <a:xfrm>
            <a:off x="822960" y="52120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424F"/>
                </a:solidFill>
              </a:rPr>
              <a:t>產出</a:t>
            </a:r>
            <a:endParaRPr lang="en-US" sz="1400" dirty="0"/>
          </a:p>
        </p:txBody>
      </p:sp>
      <p:sp>
        <p:nvSpPr>
          <p:cNvPr id="14" name="txt-267"/>
          <p:cNvSpPr txBox="1"/>
          <p:nvPr/>
        </p:nvSpPr>
        <p:spPr>
          <a:xfrm>
            <a:off x="1874520" y="52120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候選清單，還需要 VEX 研判</a:t>
            </a:r>
            <a:endParaRPr lang="en-US" sz="1500" dirty="0"/>
          </a:p>
        </p:txBody>
      </p:sp>
      <p:sp>
        <p:nvSpPr>
          <p:cNvPr id="15" name="card-268"/>
          <p:cNvSpPr/>
          <p:nvPr/>
        </p:nvSpPr>
        <p:spPr>
          <a:xfrm>
            <a:off x="6172200" y="1371600"/>
            <a:ext cx="5394960" cy="48006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16" name="iconbg-269"/>
          <p:cNvSpPr/>
          <p:nvPr/>
        </p:nvSpPr>
        <p:spPr>
          <a:xfrm>
            <a:off x="6446520" y="1554480"/>
            <a:ext cx="731520" cy="73152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7" name="icon-27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737360"/>
            <a:ext cx="365760" cy="365760"/>
          </a:xfrm>
          <a:prstGeom prst="rect">
            <a:avLst/>
          </a:prstGeom>
        </p:spPr>
      </p:pic>
      <p:sp>
        <p:nvSpPr>
          <p:cNvPr id="18" name="txt-271"/>
          <p:cNvSpPr txBox="1"/>
          <p:nvPr/>
        </p:nvSpPr>
        <p:spPr>
          <a:xfrm>
            <a:off x="7360920" y="15544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授權合規</a:t>
            </a:r>
            <a:endParaRPr lang="en-US" sz="2400" dirty="0"/>
          </a:p>
        </p:txBody>
      </p:sp>
      <p:sp>
        <p:nvSpPr>
          <p:cNvPr id="19" name="txt-272"/>
          <p:cNvSpPr txBox="1"/>
          <p:nvPr/>
        </p:nvSpPr>
        <p:spPr>
          <a:xfrm>
            <a:off x="6446520" y="26060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D5A80"/>
                </a:solidFill>
              </a:rPr>
              <a:t>比對鍵</a:t>
            </a:r>
            <a:endParaRPr lang="en-US" sz="1400" dirty="0"/>
          </a:p>
        </p:txBody>
      </p:sp>
      <p:sp>
        <p:nvSpPr>
          <p:cNvPr id="20" name="txt-273"/>
          <p:cNvSpPr txBox="1"/>
          <p:nvPr/>
        </p:nvSpPr>
        <p:spPr>
          <a:xfrm>
            <a:off x="7498080" y="26060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元件的 license 欄位</a:t>
            </a:r>
            <a:endParaRPr lang="en-US" sz="1500" dirty="0"/>
          </a:p>
        </p:txBody>
      </p:sp>
      <p:sp>
        <p:nvSpPr>
          <p:cNvPr id="21" name="txt-274"/>
          <p:cNvSpPr txBox="1"/>
          <p:nvPr/>
        </p:nvSpPr>
        <p:spPr>
          <a:xfrm>
            <a:off x="6446520" y="34747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D5A80"/>
                </a:solidFill>
              </a:rPr>
              <a:t>工具</a:t>
            </a:r>
            <a:endParaRPr lang="en-US" sz="1400" dirty="0"/>
          </a:p>
        </p:txBody>
      </p:sp>
      <p:sp>
        <p:nvSpPr>
          <p:cNvPr id="22" name="txt-275"/>
          <p:cNvSpPr txBox="1"/>
          <p:nvPr/>
        </p:nvSpPr>
        <p:spPr>
          <a:xfrm>
            <a:off x="7498080" y="34747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trivy sbom --scanners license</a:t>
            </a:r>
            <a:endParaRPr lang="en-US" sz="1500" dirty="0"/>
          </a:p>
        </p:txBody>
      </p:sp>
      <p:sp>
        <p:nvSpPr>
          <p:cNvPr id="23" name="txt-276"/>
          <p:cNvSpPr txBox="1"/>
          <p:nvPr/>
        </p:nvSpPr>
        <p:spPr>
          <a:xfrm>
            <a:off x="6446520" y="43434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D5A80"/>
                </a:solidFill>
              </a:rPr>
              <a:t>注意</a:t>
            </a:r>
            <a:endParaRPr lang="en-US" sz="1400" dirty="0"/>
          </a:p>
        </p:txBody>
      </p:sp>
      <p:sp>
        <p:nvSpPr>
          <p:cNvPr id="24" name="txt-277"/>
          <p:cNvSpPr txBox="1"/>
          <p:nvPr/>
        </p:nvSpPr>
        <p:spPr>
          <a:xfrm>
            <a:off x="7498080" y="43434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syft 取不到 .NET 套件的授權資訊</a:t>
            </a:r>
            <a:endParaRPr lang="en-US" sz="1500" dirty="0"/>
          </a:p>
        </p:txBody>
      </p:sp>
      <p:sp>
        <p:nvSpPr>
          <p:cNvPr id="25" name="txt-278"/>
          <p:cNvSpPr txBox="1"/>
          <p:nvPr/>
        </p:nvSpPr>
        <p:spPr>
          <a:xfrm>
            <a:off x="6446520" y="52120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D5A80"/>
                </a:solidFill>
              </a:rPr>
              <a:t>降噪</a:t>
            </a:r>
            <a:endParaRPr lang="en-US" sz="1400" dirty="0"/>
          </a:p>
        </p:txBody>
      </p:sp>
      <p:sp>
        <p:nvSpPr>
          <p:cNvPr id="26" name="txt-279"/>
          <p:cNvSpPr txBox="1"/>
          <p:nvPr/>
        </p:nvSpPr>
        <p:spPr>
          <a:xfrm>
            <a:off x="7498080" y="52120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先排除 System.／Microsoft. 等前綴的套件（可能誤排除同名前綴第三方）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VEX 回饋迴圈：syft → grype → vexctl</a:t>
            </a:r>
            <a:endParaRPr lang="en-US" sz="3200" dirty="0"/>
          </a:p>
        </p:txBody>
      </p:sp>
      <p:sp>
        <p:nvSpPr>
          <p:cNvPr id="3" name="card-280"/>
          <p:cNvSpPr/>
          <p:nvPr/>
        </p:nvSpPr>
        <p:spPr>
          <a:xfrm>
            <a:off x="548640" y="1600200"/>
            <a:ext cx="19202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4" name="txt-281"/>
          <p:cNvSpPr txBox="1"/>
          <p:nvPr/>
        </p:nvSpPr>
        <p:spPr>
          <a:xfrm>
            <a:off x="640080" y="1600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  syft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產生 SBOM</a:t>
            </a:r>
            <a:endParaRPr lang="en-US" sz="1400" dirty="0"/>
          </a:p>
        </p:txBody>
      </p:sp>
      <p:sp>
        <p:nvSpPr>
          <p:cNvPr id="5" name="card-282"/>
          <p:cNvSpPr/>
          <p:nvPr/>
        </p:nvSpPr>
        <p:spPr>
          <a:xfrm>
            <a:off x="2926080" y="1600200"/>
            <a:ext cx="19202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6" name="txt-283"/>
          <p:cNvSpPr txBox="1"/>
          <p:nvPr/>
        </p:nvSpPr>
        <p:spPr>
          <a:xfrm>
            <a:off x="3017520" y="1600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  grype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掃描弱點</a:t>
            </a:r>
            <a:endParaRPr lang="en-US" sz="1400" dirty="0"/>
          </a:p>
        </p:txBody>
      </p:sp>
      <p:sp>
        <p:nvSpPr>
          <p:cNvPr id="7" name="card-284"/>
          <p:cNvSpPr/>
          <p:nvPr/>
        </p:nvSpPr>
        <p:spPr>
          <a:xfrm>
            <a:off x="5303520" y="1600200"/>
            <a:ext cx="19202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8" name="txt-285"/>
          <p:cNvSpPr txBox="1"/>
          <p:nvPr/>
        </p:nvSpPr>
        <p:spPr>
          <a:xfrm>
            <a:off x="5394960" y="1600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  人工研判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每個 CVE</a:t>
            </a:r>
            <a:endParaRPr lang="en-US" sz="1400" dirty="0"/>
          </a:p>
        </p:txBody>
      </p:sp>
      <p:sp>
        <p:nvSpPr>
          <p:cNvPr id="9" name="diamond-286"/>
          <p:cNvSpPr/>
          <p:nvPr/>
        </p:nvSpPr>
        <p:spPr>
          <a:xfrm>
            <a:off x="7635240" y="1371600"/>
            <a:ext cx="2103120" cy="1371600"/>
          </a:xfrm>
          <a:prstGeom prst="diamond">
            <a:avLst/>
          </a:prstGeom>
          <a:solidFill>
            <a:schemeClr val="accent2"/>
          </a:solidFill>
          <a:ln/>
        </p:spPr>
      </p:sp>
      <p:sp>
        <p:nvSpPr>
          <p:cNvPr id="10" name="txt-287"/>
          <p:cNvSpPr txBox="1"/>
          <p:nvPr/>
        </p:nvSpPr>
        <p:spPr>
          <a:xfrm>
            <a:off x="7635240" y="13716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  可利用？</a:t>
            </a:r>
            <a:endParaRPr lang="en-US" sz="1400" dirty="0"/>
          </a:p>
        </p:txBody>
      </p:sp>
      <p:sp>
        <p:nvSpPr>
          <p:cNvPr id="11" name="card-288"/>
          <p:cNvSpPr/>
          <p:nvPr/>
        </p:nvSpPr>
        <p:spPr>
          <a:xfrm>
            <a:off x="10104120" y="1600200"/>
            <a:ext cx="1508760" cy="91440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</p:sp>
      <p:sp>
        <p:nvSpPr>
          <p:cNvPr id="12" name="txt-289"/>
          <p:cNvSpPr txBox="1"/>
          <p:nvPr/>
        </p:nvSpPr>
        <p:spPr>
          <a:xfrm>
            <a:off x="10195560" y="16002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  升級／換元件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重建，回到 1</a:t>
            </a:r>
            <a:endParaRPr lang="en-US" sz="1300" dirty="0"/>
          </a:p>
        </p:txBody>
      </p:sp>
      <p:sp>
        <p:nvSpPr>
          <p:cNvPr id="13" name="arrow-290"/>
          <p:cNvSpPr/>
          <p:nvPr/>
        </p:nvSpPr>
        <p:spPr>
          <a:xfrm>
            <a:off x="2468880" y="2057400"/>
            <a:ext cx="457200" cy="914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4" name="arrow-291"/>
          <p:cNvSpPr/>
          <p:nvPr/>
        </p:nvSpPr>
        <p:spPr>
          <a:xfrm>
            <a:off x="4846320" y="2057400"/>
            <a:ext cx="457200" cy="914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5" name="arrow-292"/>
          <p:cNvSpPr/>
          <p:nvPr/>
        </p:nvSpPr>
        <p:spPr>
          <a:xfrm>
            <a:off x="7223760" y="2057400"/>
            <a:ext cx="411480" cy="914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6" name="arrow-293"/>
          <p:cNvSpPr/>
          <p:nvPr/>
        </p:nvSpPr>
        <p:spPr>
          <a:xfrm>
            <a:off x="9738360" y="2057400"/>
            <a:ext cx="365760" cy="914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7" name="txt-294"/>
          <p:cNvSpPr txBox="1"/>
          <p:nvPr/>
        </p:nvSpPr>
        <p:spPr>
          <a:xfrm>
            <a:off x="9509760" y="2148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affected</a:t>
            </a:r>
            <a:endParaRPr lang="en-US" sz="1000" dirty="0"/>
          </a:p>
        </p:txBody>
      </p:sp>
      <p:sp>
        <p:nvSpPr>
          <p:cNvPr id="18" name="arrow-295"/>
          <p:cNvSpPr/>
          <p:nvPr/>
        </p:nvSpPr>
        <p:spPr>
          <a:xfrm>
            <a:off x="8686800" y="2743200"/>
            <a:ext cx="914" cy="777240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9" name="txt-296"/>
          <p:cNvSpPr txBox="1"/>
          <p:nvPr/>
        </p:nvSpPr>
        <p:spPr>
          <a:xfrm>
            <a:off x="8823960" y="27889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not_affected／fixed／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under_investigation</a:t>
            </a:r>
            <a:endParaRPr lang="en-US" sz="1200" dirty="0"/>
          </a:p>
        </p:txBody>
      </p:sp>
      <p:sp>
        <p:nvSpPr>
          <p:cNvPr id="20" name="card-297"/>
          <p:cNvSpPr/>
          <p:nvPr/>
        </p:nvSpPr>
        <p:spPr>
          <a:xfrm>
            <a:off x="7635240" y="3520440"/>
            <a:ext cx="210312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21" name="txt-298"/>
          <p:cNvSpPr txBox="1"/>
          <p:nvPr/>
        </p:nvSpPr>
        <p:spPr>
          <a:xfrm>
            <a:off x="7726680" y="3520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  vexctl create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（可 merge／attest）</a:t>
            </a:r>
            <a:endParaRPr lang="en-US" sz="1400" dirty="0"/>
          </a:p>
        </p:txBody>
      </p:sp>
      <p:sp>
        <p:nvSpPr>
          <p:cNvPr id="22" name="card-299"/>
          <p:cNvSpPr/>
          <p:nvPr/>
        </p:nvSpPr>
        <p:spPr>
          <a:xfrm>
            <a:off x="5303520" y="3520440"/>
            <a:ext cx="192024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23" name="txt-300"/>
          <p:cNvSpPr txBox="1"/>
          <p:nvPr/>
        </p:nvSpPr>
        <p:spPr>
          <a:xfrm>
            <a:off x="5394960" y="3520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  grype 套用 VEX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重新掃描</a:t>
            </a:r>
            <a:endParaRPr lang="en-US" sz="1400" dirty="0"/>
          </a:p>
        </p:txBody>
      </p:sp>
      <p:sp>
        <p:nvSpPr>
          <p:cNvPr id="24" name="card-301"/>
          <p:cNvSpPr/>
          <p:nvPr/>
        </p:nvSpPr>
        <p:spPr>
          <a:xfrm>
            <a:off x="2926080" y="3520440"/>
            <a:ext cx="192024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25" name="txt-302"/>
          <p:cNvSpPr txBox="1"/>
          <p:nvPr/>
        </p:nvSpPr>
        <p:spPr>
          <a:xfrm>
            <a:off x="3017520" y="3520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交付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SBOM + VEX</a:t>
            </a:r>
            <a:endParaRPr lang="en-US" sz="1400" dirty="0"/>
          </a:p>
        </p:txBody>
      </p:sp>
      <p:sp>
        <p:nvSpPr>
          <p:cNvPr id="26" name="arrow-303"/>
          <p:cNvSpPr/>
          <p:nvPr/>
        </p:nvSpPr>
        <p:spPr>
          <a:xfrm flipH="1">
            <a:off x="7223760" y="3977640"/>
            <a:ext cx="411480" cy="914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27" name="arrow-304"/>
          <p:cNvSpPr/>
          <p:nvPr/>
        </p:nvSpPr>
        <p:spPr>
          <a:xfrm flipH="1">
            <a:off x="4846320" y="3977640"/>
            <a:ext cx="457200" cy="914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28" name="txt-305"/>
          <p:cNvSpPr txBox="1"/>
          <p:nvPr/>
        </p:nvSpPr>
        <p:spPr>
          <a:xfrm>
            <a:off x="5303520" y="4526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剩餘弱點 → 回到 3</a:t>
            </a:r>
            <a:endParaRPr lang="en-US" sz="1200" dirty="0"/>
          </a:p>
        </p:txBody>
      </p:sp>
      <p:sp>
        <p:nvSpPr>
          <p:cNvPr id="29" name="txt-306"/>
          <p:cNvSpPr txBox="1"/>
          <p:nvPr/>
        </p:nvSpPr>
        <p:spPr>
          <a:xfrm>
            <a:off x="548640" y="3611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掃描結果為 0 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直接交付 SBOM</a:t>
            </a:r>
            <a:endParaRPr lang="en-US" sz="1300" dirty="0"/>
          </a:p>
        </p:txBody>
      </p:sp>
      <p:sp>
        <p:nvSpPr>
          <p:cNvPr id="30" name="card-307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31" name="txt-308"/>
          <p:cNvSpPr txBox="1"/>
          <p:nvPr/>
        </p:nvSpPr>
        <p:spPr>
          <a:xfrm>
            <a:off x="777240" y="52120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分工：syft = 清單、grype = 比對、vexctl = 聲明「這個弱點對本產品有沒有影響」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限制：vexctl filter 目前只吃 SARIF；grype 帶 VEX 重掃的參數與版本需求尚未實測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放進 CI/CD</a:t>
            </a:r>
            <a:endParaRPr lang="en-US" sz="3200" dirty="0"/>
          </a:p>
        </p:txBody>
      </p:sp>
      <p:sp>
        <p:nvSpPr>
          <p:cNvPr id="3" name="stage-309"/>
          <p:cNvSpPr/>
          <p:nvPr/>
        </p:nvSpPr>
        <p:spPr>
          <a:xfrm>
            <a:off x="548640" y="1417320"/>
            <a:ext cx="2286000" cy="685800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4" name="txt-310"/>
          <p:cNvSpPr txBox="1"/>
          <p:nvPr/>
        </p:nvSpPr>
        <p:spPr>
          <a:xfrm>
            <a:off x="86868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Build</a:t>
            </a:r>
            <a:endParaRPr lang="en-US" sz="1600" dirty="0"/>
          </a:p>
        </p:txBody>
      </p:sp>
      <p:sp>
        <p:nvSpPr>
          <p:cNvPr id="5" name="stage-311"/>
          <p:cNvSpPr/>
          <p:nvPr/>
        </p:nvSpPr>
        <p:spPr>
          <a:xfrm>
            <a:off x="2788920" y="1417320"/>
            <a:ext cx="2286000" cy="685800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6" name="txt-312"/>
          <p:cNvSpPr txBox="1"/>
          <p:nvPr/>
        </p:nvSpPr>
        <p:spPr>
          <a:xfrm>
            <a:off x="310896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產生 SBOM</a:t>
            </a:r>
            <a:endParaRPr lang="en-US" sz="1600" dirty="0"/>
          </a:p>
        </p:txBody>
      </p:sp>
      <p:sp>
        <p:nvSpPr>
          <p:cNvPr id="7" name="stage-313"/>
          <p:cNvSpPr/>
          <p:nvPr/>
        </p:nvSpPr>
        <p:spPr>
          <a:xfrm>
            <a:off x="5029200" y="1417320"/>
            <a:ext cx="2286000" cy="685800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8" name="txt-314"/>
          <p:cNvSpPr txBox="1"/>
          <p:nvPr/>
        </p:nvSpPr>
        <p:spPr>
          <a:xfrm>
            <a:off x="534924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掃描</a:t>
            </a:r>
            <a:endParaRPr lang="en-US" sz="1600" dirty="0"/>
          </a:p>
        </p:txBody>
      </p:sp>
      <p:sp>
        <p:nvSpPr>
          <p:cNvPr id="9" name="stage-315"/>
          <p:cNvSpPr/>
          <p:nvPr/>
        </p:nvSpPr>
        <p:spPr>
          <a:xfrm>
            <a:off x="7269480" y="1417320"/>
            <a:ext cx="2286000" cy="6858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0" name="txt-316"/>
          <p:cNvSpPr txBox="1"/>
          <p:nvPr/>
        </p:nvSpPr>
        <p:spPr>
          <a:xfrm>
            <a:off x="758952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Gate</a:t>
            </a:r>
            <a:endParaRPr lang="en-US" sz="1600" dirty="0"/>
          </a:p>
        </p:txBody>
      </p:sp>
      <p:sp>
        <p:nvSpPr>
          <p:cNvPr id="11" name="stage-317"/>
          <p:cNvSpPr/>
          <p:nvPr/>
        </p:nvSpPr>
        <p:spPr>
          <a:xfrm>
            <a:off x="9509760" y="1417320"/>
            <a:ext cx="2286000" cy="685800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12" name="txt-318"/>
          <p:cNvSpPr txBox="1"/>
          <p:nvPr/>
        </p:nvSpPr>
        <p:spPr>
          <a:xfrm>
            <a:off x="982980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保存／發布</a:t>
            </a:r>
            <a:endParaRPr lang="en-US" sz="1600" dirty="0"/>
          </a:p>
        </p:txBody>
      </p:sp>
      <p:sp>
        <p:nvSpPr>
          <p:cNvPr id="13" name="card-319"/>
          <p:cNvSpPr/>
          <p:nvPr/>
        </p:nvSpPr>
        <p:spPr>
          <a:xfrm>
            <a:off x="548640" y="2423160"/>
            <a:ext cx="35204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4" name="iconbg-320"/>
          <p:cNvSpPr/>
          <p:nvPr/>
        </p:nvSpPr>
        <p:spPr>
          <a:xfrm>
            <a:off x="777240" y="2606040"/>
            <a:ext cx="640080" cy="640080"/>
          </a:xfrm>
          <a:prstGeom prst="ellipse">
            <a:avLst/>
          </a:prstGeom>
          <a:solidFill>
            <a:srgbClr val="0E7C6B"/>
          </a:solidFill>
          <a:ln/>
        </p:spPr>
      </p:sp>
      <p:pic>
        <p:nvPicPr>
          <p:cNvPr id="15" name="icon-32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766060"/>
            <a:ext cx="320040" cy="320040"/>
          </a:xfrm>
          <a:prstGeom prst="rect">
            <a:avLst/>
          </a:prstGeom>
        </p:spPr>
      </p:pic>
      <p:sp>
        <p:nvSpPr>
          <p:cNvPr id="16" name="txt-322"/>
          <p:cNvSpPr txBox="1"/>
          <p:nvPr/>
        </p:nvSpPr>
        <p:spPr>
          <a:xfrm>
            <a:off x="1554480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什麼時候跑</a:t>
            </a:r>
            <a:endParaRPr lang="en-US" sz="1800" dirty="0"/>
          </a:p>
        </p:txBody>
      </p:sp>
      <p:sp>
        <p:nvSpPr>
          <p:cNvPr id="17" name="txt-323"/>
          <p:cNvSpPr txBox="1"/>
          <p:nvPr/>
        </p:nvSpPr>
        <p:spPr>
          <a:xfrm>
            <a:off x="777240" y="34290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每次 release build，與製品同一流程（便於一起簽章）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排程重掃既有版本的 SBOM</a:t>
            </a:r>
            <a:endParaRPr lang="en-US" sz="1400" dirty="0"/>
          </a:p>
        </p:txBody>
      </p:sp>
      <p:sp>
        <p:nvSpPr>
          <p:cNvPr id="18" name="card-324"/>
          <p:cNvSpPr/>
          <p:nvPr/>
        </p:nvSpPr>
        <p:spPr>
          <a:xfrm>
            <a:off x="4297680" y="2423160"/>
            <a:ext cx="35204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9" name="iconbg-325"/>
          <p:cNvSpPr/>
          <p:nvPr/>
        </p:nvSpPr>
        <p:spPr>
          <a:xfrm>
            <a:off x="4526280" y="260604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0" name="icon-32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2766060"/>
            <a:ext cx="320040" cy="320040"/>
          </a:xfrm>
          <a:prstGeom prst="rect">
            <a:avLst/>
          </a:prstGeom>
        </p:spPr>
      </p:pic>
      <p:sp>
        <p:nvSpPr>
          <p:cNvPr id="21" name="txt-327"/>
          <p:cNvSpPr txBox="1"/>
          <p:nvPr/>
        </p:nvSpPr>
        <p:spPr>
          <a:xfrm>
            <a:off x="5303520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擋什麼（建議）</a:t>
            </a:r>
            <a:endParaRPr lang="en-US" sz="1800" dirty="0"/>
          </a:p>
        </p:txBody>
      </p:sp>
      <p:sp>
        <p:nvSpPr>
          <p:cNvPr id="22" name="txt-328"/>
          <p:cNvSpPr txBox="1"/>
          <p:nvPr/>
        </p:nvSpPr>
        <p:spPr>
          <a:xfrm>
            <a:off x="4526280" y="34290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新增 Critical／High 弱點且沒有 VEX 聲明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授權不在核可清單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SBOM 或 VEX 格式驗證失敗</a:t>
            </a:r>
            <a:endParaRPr lang="en-US" sz="1400" dirty="0"/>
          </a:p>
        </p:txBody>
      </p:sp>
      <p:sp>
        <p:nvSpPr>
          <p:cNvPr id="23" name="card-329"/>
          <p:cNvSpPr/>
          <p:nvPr/>
        </p:nvSpPr>
        <p:spPr>
          <a:xfrm>
            <a:off x="8046720" y="2423160"/>
            <a:ext cx="35204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24" name="iconbg-330"/>
          <p:cNvSpPr/>
          <p:nvPr/>
        </p:nvSpPr>
        <p:spPr>
          <a:xfrm>
            <a:off x="8275320" y="2606040"/>
            <a:ext cx="640080" cy="640080"/>
          </a:xfrm>
          <a:prstGeom prst="ellipse">
            <a:avLst/>
          </a:prstGeom>
          <a:solidFill>
            <a:srgbClr val="0E7C6B"/>
          </a:solidFill>
          <a:ln/>
        </p:spPr>
      </p:sp>
      <p:pic>
        <p:nvPicPr>
          <p:cNvPr id="25" name="icon-33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340" y="2766060"/>
            <a:ext cx="320040" cy="320040"/>
          </a:xfrm>
          <a:prstGeom prst="rect">
            <a:avLst/>
          </a:prstGeom>
        </p:spPr>
      </p:pic>
      <p:sp>
        <p:nvSpPr>
          <p:cNvPr id="26" name="txt-332"/>
          <p:cNvSpPr txBox="1"/>
          <p:nvPr/>
        </p:nvSpPr>
        <p:spPr>
          <a:xfrm>
            <a:off x="9052560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留下什麼</a:t>
            </a:r>
            <a:endParaRPr lang="en-US" sz="1800" dirty="0"/>
          </a:p>
        </p:txBody>
      </p:sp>
      <p:sp>
        <p:nvSpPr>
          <p:cNvPr id="27" name="txt-333"/>
          <p:cNvSpPr txBox="1"/>
          <p:nvPr/>
        </p:nvSpPr>
        <p:spPr>
          <a:xfrm>
            <a:off x="8275320" y="34290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檔名 = 製品檔名 + .cdx.json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SBOM + 弱點報告 + 授權報告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工具版本、弱點 DB 建置時間</a:t>
            </a:r>
            <a:endParaRPr lang="en-US" sz="1400" dirty="0"/>
          </a:p>
        </p:txBody>
      </p:sp>
      <p:sp>
        <p:nvSpPr>
          <p:cNvPr id="28" name="card-334"/>
          <p:cNvSpPr/>
          <p:nvPr/>
        </p:nvSpPr>
        <p:spPr>
          <a:xfrm>
            <a:off x="548640" y="566928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29" name="code-335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sbom-tools diff old.cdx.json new.cdx.json --fail-on-vex-gap   # 新弱點缺 VEX → exit 4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vexctl validate --strict vex.json                             # 警告也視為失敗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336"/>
          <p:cNvSpPr txBox="1"/>
          <p:nvPr/>
        </p:nvSpPr>
        <p:spPr>
          <a:xfrm>
            <a:off x="731520" y="14630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03</a:t>
            </a:r>
            <a:endParaRPr lang="en-US" sz="7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實務分享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8404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.NET 專案兩條路線的實測、前端 JS 補強，以及一路踩到的坑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工具地圖</a:t>
            </a:r>
            <a:endParaRPr lang="en-US" sz="3200" dirty="0"/>
          </a:p>
        </p:txBody>
      </p:sp>
      <p:sp>
        <p:nvSpPr>
          <p:cNvPr id="3" name="card-337"/>
          <p:cNvSpPr/>
          <p:nvPr/>
        </p:nvSpPr>
        <p:spPr>
          <a:xfrm>
            <a:off x="548640" y="13716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0E7C6B"/>
          </a:solidFill>
          <a:ln/>
        </p:spPr>
      </p:sp>
      <p:sp>
        <p:nvSpPr>
          <p:cNvPr id="4" name="txt-338"/>
          <p:cNvSpPr txBox="1"/>
          <p:nvPr/>
        </p:nvSpPr>
        <p:spPr>
          <a:xfrm>
            <a:off x="548640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產生</a:t>
            </a:r>
            <a:endParaRPr lang="en-US" sz="1600" dirty="0"/>
          </a:p>
        </p:txBody>
      </p:sp>
      <p:sp>
        <p:nvSpPr>
          <p:cNvPr id="5" name="card-339"/>
          <p:cNvSpPr/>
          <p:nvPr/>
        </p:nvSpPr>
        <p:spPr>
          <a:xfrm>
            <a:off x="548640" y="2103120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DCEFEA"/>
          </a:solidFill>
          <a:ln/>
        </p:spPr>
      </p:sp>
      <p:sp>
        <p:nvSpPr>
          <p:cNvPr id="6" name="txt-340"/>
          <p:cNvSpPr txBox="1"/>
          <p:nvPr/>
        </p:nvSpPr>
        <p:spPr>
          <a:xfrm>
            <a:off x="685800" y="21579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★ syft</a:t>
            </a:r>
            <a:endParaRPr lang="en-US" sz="1400" dirty="0"/>
          </a:p>
        </p:txBody>
      </p:sp>
      <p:sp>
        <p:nvSpPr>
          <p:cNvPr id="7" name="txt-341"/>
          <p:cNvSpPr txBox="1"/>
          <p:nvPr/>
        </p:nvSpPr>
        <p:spPr>
          <a:xfrm>
            <a:off x="685800" y="246888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多生態系；掃目錄／映像</a:t>
            </a:r>
            <a:endParaRPr lang="en-US" sz="1100" dirty="0"/>
          </a:p>
        </p:txBody>
      </p:sp>
      <p:sp>
        <p:nvSpPr>
          <p:cNvPr id="8" name="card-342"/>
          <p:cNvSpPr/>
          <p:nvPr/>
        </p:nvSpPr>
        <p:spPr>
          <a:xfrm>
            <a:off x="548640" y="2907792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DCEFEA"/>
          </a:solidFill>
          <a:ln/>
        </p:spPr>
      </p:sp>
      <p:sp>
        <p:nvSpPr>
          <p:cNvPr id="9" name="txt-343"/>
          <p:cNvSpPr txBox="1"/>
          <p:nvPr/>
        </p:nvSpPr>
        <p:spPr>
          <a:xfrm>
            <a:off x="685800" y="29626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★ dotnet-CycloneDX</a:t>
            </a:r>
            <a:endParaRPr lang="en-US" sz="1400" dirty="0"/>
          </a:p>
        </p:txBody>
      </p:sp>
      <p:sp>
        <p:nvSpPr>
          <p:cNvPr id="10" name="txt-344"/>
          <p:cNvSpPr txBox="1"/>
          <p:nvPr/>
        </p:nvSpPr>
        <p:spPr>
          <a:xfrm>
            <a:off x="685800" y="327355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.NET 專案檔；含授權</a:t>
            </a:r>
            <a:endParaRPr lang="en-US" sz="1100" dirty="0"/>
          </a:p>
        </p:txBody>
      </p:sp>
      <p:sp>
        <p:nvSpPr>
          <p:cNvPr id="11" name="card-345"/>
          <p:cNvSpPr/>
          <p:nvPr/>
        </p:nvSpPr>
        <p:spPr>
          <a:xfrm>
            <a:off x="548640" y="3712464"/>
            <a:ext cx="26517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</p:sp>
      <p:sp>
        <p:nvSpPr>
          <p:cNvPr id="12" name="txt-346"/>
          <p:cNvSpPr txBox="1"/>
          <p:nvPr/>
        </p:nvSpPr>
        <p:spPr>
          <a:xfrm>
            <a:off x="685800" y="3767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cyclonedx-npm</a:t>
            </a:r>
            <a:endParaRPr lang="en-US" sz="1400" dirty="0"/>
          </a:p>
        </p:txBody>
      </p:sp>
      <p:sp>
        <p:nvSpPr>
          <p:cNvPr id="13" name="txt-347"/>
          <p:cNvSpPr txBox="1"/>
          <p:nvPr/>
        </p:nvSpPr>
        <p:spPr>
          <a:xfrm>
            <a:off x="685800" y="407822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npm 依賴樹／lockfile</a:t>
            </a:r>
            <a:endParaRPr lang="en-US" sz="1100" dirty="0"/>
          </a:p>
        </p:txBody>
      </p:sp>
      <p:sp>
        <p:nvSpPr>
          <p:cNvPr id="14" name="card-348"/>
          <p:cNvSpPr/>
          <p:nvPr/>
        </p:nvSpPr>
        <p:spPr>
          <a:xfrm>
            <a:off x="548640" y="4517136"/>
            <a:ext cx="26517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</p:sp>
      <p:sp>
        <p:nvSpPr>
          <p:cNvPr id="15" name="txt-349"/>
          <p:cNvSpPr txBox="1"/>
          <p:nvPr/>
        </p:nvSpPr>
        <p:spPr>
          <a:xfrm>
            <a:off x="685800" y="4572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Microsoft sbom-tool</a:t>
            </a:r>
            <a:endParaRPr lang="en-US" sz="1400" dirty="0"/>
          </a:p>
        </p:txBody>
      </p:sp>
      <p:sp>
        <p:nvSpPr>
          <p:cNvPr id="16" name="txt-350"/>
          <p:cNvSpPr txBox="1"/>
          <p:nvPr/>
        </p:nvSpPr>
        <p:spPr>
          <a:xfrm>
            <a:off x="685800" y="4882896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只輸出 SPDX</a:t>
            </a:r>
            <a:endParaRPr lang="en-US" sz="1100" dirty="0"/>
          </a:p>
        </p:txBody>
      </p:sp>
      <p:sp>
        <p:nvSpPr>
          <p:cNvPr id="17" name="card-351"/>
          <p:cNvSpPr/>
          <p:nvPr/>
        </p:nvSpPr>
        <p:spPr>
          <a:xfrm>
            <a:off x="548640" y="5321808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DCEFEA"/>
          </a:solidFill>
          <a:ln/>
        </p:spPr>
      </p:sp>
      <p:sp>
        <p:nvSpPr>
          <p:cNvPr id="18" name="txt-352"/>
          <p:cNvSpPr txBox="1"/>
          <p:nvPr/>
        </p:nvSpPr>
        <p:spPr>
          <a:xfrm>
            <a:off x="685800" y="5376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★ retire.js</a:t>
            </a:r>
            <a:endParaRPr lang="en-US" sz="1400" dirty="0"/>
          </a:p>
        </p:txBody>
      </p:sp>
      <p:sp>
        <p:nvSpPr>
          <p:cNvPr id="19" name="txt-353"/>
          <p:cNvSpPr txBox="1"/>
          <p:nvPr/>
        </p:nvSpPr>
        <p:spPr>
          <a:xfrm>
            <a:off x="685800" y="568756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前端 vendored JS</a:t>
            </a:r>
            <a:endParaRPr lang="en-US" sz="1100" dirty="0"/>
          </a:p>
        </p:txBody>
      </p:sp>
      <p:sp>
        <p:nvSpPr>
          <p:cNvPr id="20" name="card-354"/>
          <p:cNvSpPr/>
          <p:nvPr/>
        </p:nvSpPr>
        <p:spPr>
          <a:xfrm>
            <a:off x="3383280" y="13716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3D5A80"/>
          </a:solidFill>
          <a:ln/>
        </p:spPr>
      </p:sp>
      <p:sp>
        <p:nvSpPr>
          <p:cNvPr id="21" name="txt-355"/>
          <p:cNvSpPr txBox="1"/>
          <p:nvPr/>
        </p:nvSpPr>
        <p:spPr>
          <a:xfrm>
            <a:off x="3383280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驗證・合併・轉換</a:t>
            </a:r>
            <a:endParaRPr lang="en-US" sz="1600" dirty="0"/>
          </a:p>
        </p:txBody>
      </p:sp>
      <p:sp>
        <p:nvSpPr>
          <p:cNvPr id="22" name="card-356"/>
          <p:cNvSpPr/>
          <p:nvPr/>
        </p:nvSpPr>
        <p:spPr>
          <a:xfrm>
            <a:off x="3383280" y="2103120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DCEFEA"/>
          </a:solidFill>
          <a:ln/>
        </p:spPr>
      </p:sp>
      <p:sp>
        <p:nvSpPr>
          <p:cNvPr id="23" name="txt-357"/>
          <p:cNvSpPr txBox="1"/>
          <p:nvPr/>
        </p:nvSpPr>
        <p:spPr>
          <a:xfrm>
            <a:off x="3520440" y="21579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★ cyclonedx-cli</a:t>
            </a:r>
            <a:endParaRPr lang="en-US" sz="1400" dirty="0"/>
          </a:p>
        </p:txBody>
      </p:sp>
      <p:sp>
        <p:nvSpPr>
          <p:cNvPr id="24" name="txt-358"/>
          <p:cNvSpPr txBox="1"/>
          <p:nvPr/>
        </p:nvSpPr>
        <p:spPr>
          <a:xfrm>
            <a:off x="3520440" y="246888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validate／merge／diff／convert／sign</a:t>
            </a:r>
            <a:endParaRPr lang="en-US" sz="1100" dirty="0"/>
          </a:p>
        </p:txBody>
      </p:sp>
      <p:sp>
        <p:nvSpPr>
          <p:cNvPr id="25" name="card-359"/>
          <p:cNvSpPr/>
          <p:nvPr/>
        </p:nvSpPr>
        <p:spPr>
          <a:xfrm>
            <a:off x="3383280" y="2907792"/>
            <a:ext cx="26517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</p:sp>
      <p:sp>
        <p:nvSpPr>
          <p:cNvPr id="26" name="txt-360"/>
          <p:cNvSpPr txBox="1"/>
          <p:nvPr/>
        </p:nvSpPr>
        <p:spPr>
          <a:xfrm>
            <a:off x="3520440" y="29626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sbom-tools</a:t>
            </a:r>
            <a:endParaRPr lang="en-US" sz="1400" dirty="0"/>
          </a:p>
        </p:txBody>
      </p:sp>
      <p:sp>
        <p:nvSpPr>
          <p:cNvPr id="27" name="txt-361"/>
          <p:cNvSpPr txBox="1"/>
          <p:nvPr/>
        </p:nvSpPr>
        <p:spPr>
          <a:xfrm>
            <a:off x="3520440" y="327355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語意 diff、品質分數、16 種合規檢查</a:t>
            </a:r>
            <a:endParaRPr lang="en-US" sz="1100" dirty="0"/>
          </a:p>
        </p:txBody>
      </p:sp>
      <p:sp>
        <p:nvSpPr>
          <p:cNvPr id="28" name="card-362"/>
          <p:cNvSpPr/>
          <p:nvPr/>
        </p:nvSpPr>
        <p:spPr>
          <a:xfrm>
            <a:off x="6217920" y="13716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C8424F"/>
          </a:solidFill>
          <a:ln/>
        </p:spPr>
      </p:sp>
      <p:sp>
        <p:nvSpPr>
          <p:cNvPr id="29" name="txt-363"/>
          <p:cNvSpPr txBox="1"/>
          <p:nvPr/>
        </p:nvSpPr>
        <p:spPr>
          <a:xfrm>
            <a:off x="6217920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掃描</a:t>
            </a:r>
            <a:endParaRPr lang="en-US" sz="1600" dirty="0"/>
          </a:p>
        </p:txBody>
      </p:sp>
      <p:sp>
        <p:nvSpPr>
          <p:cNvPr id="30" name="card-364"/>
          <p:cNvSpPr/>
          <p:nvPr/>
        </p:nvSpPr>
        <p:spPr>
          <a:xfrm>
            <a:off x="6217920" y="2103120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DCEFEA"/>
          </a:solidFill>
          <a:ln/>
        </p:spPr>
      </p:sp>
      <p:sp>
        <p:nvSpPr>
          <p:cNvPr id="31" name="txt-365"/>
          <p:cNvSpPr txBox="1"/>
          <p:nvPr/>
        </p:nvSpPr>
        <p:spPr>
          <a:xfrm>
            <a:off x="6355080" y="21579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★ grype</a:t>
            </a:r>
            <a:endParaRPr lang="en-US" sz="1400" dirty="0"/>
          </a:p>
        </p:txBody>
      </p:sp>
      <p:sp>
        <p:nvSpPr>
          <p:cNvPr id="32" name="txt-366"/>
          <p:cNvSpPr txBox="1"/>
          <p:nvPr/>
        </p:nvSpPr>
        <p:spPr>
          <a:xfrm>
            <a:off x="6355080" y="246888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弱點；支援 OpenVEX</a:t>
            </a:r>
            <a:endParaRPr lang="en-US" sz="1100" dirty="0"/>
          </a:p>
        </p:txBody>
      </p:sp>
      <p:sp>
        <p:nvSpPr>
          <p:cNvPr id="33" name="card-367"/>
          <p:cNvSpPr/>
          <p:nvPr/>
        </p:nvSpPr>
        <p:spPr>
          <a:xfrm>
            <a:off x="6217920" y="2907792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DCEFEA"/>
          </a:solidFill>
          <a:ln/>
        </p:spPr>
      </p:sp>
      <p:sp>
        <p:nvSpPr>
          <p:cNvPr id="34" name="txt-368"/>
          <p:cNvSpPr txBox="1"/>
          <p:nvPr/>
        </p:nvSpPr>
        <p:spPr>
          <a:xfrm>
            <a:off x="6355080" y="29626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★ trivy</a:t>
            </a:r>
            <a:endParaRPr lang="en-US" sz="1400" dirty="0"/>
          </a:p>
        </p:txBody>
      </p:sp>
      <p:sp>
        <p:nvSpPr>
          <p:cNvPr id="35" name="txt-369"/>
          <p:cNvSpPr txBox="1"/>
          <p:nvPr/>
        </p:nvSpPr>
        <p:spPr>
          <a:xfrm>
            <a:off x="6355080" y="327355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弱點 + 授權；--vex</a:t>
            </a:r>
            <a:endParaRPr lang="en-US" sz="1100" dirty="0"/>
          </a:p>
        </p:txBody>
      </p:sp>
      <p:sp>
        <p:nvSpPr>
          <p:cNvPr id="36" name="card-370"/>
          <p:cNvSpPr/>
          <p:nvPr/>
        </p:nvSpPr>
        <p:spPr>
          <a:xfrm>
            <a:off x="6217920" y="3712464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DCEFEA"/>
          </a:solidFill>
          <a:ln/>
        </p:spPr>
      </p:sp>
      <p:sp>
        <p:nvSpPr>
          <p:cNvPr id="37" name="txt-371"/>
          <p:cNvSpPr txBox="1"/>
          <p:nvPr/>
        </p:nvSpPr>
        <p:spPr>
          <a:xfrm>
            <a:off x="6355080" y="3767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★ retire.js</a:t>
            </a:r>
            <a:endParaRPr lang="en-US" sz="1400" dirty="0"/>
          </a:p>
        </p:txBody>
      </p:sp>
      <p:sp>
        <p:nvSpPr>
          <p:cNvPr id="38" name="txt-372"/>
          <p:cNvSpPr txBox="1"/>
          <p:nvPr/>
        </p:nvSpPr>
        <p:spPr>
          <a:xfrm>
            <a:off x="6355080" y="407822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JS 函式庫弱點</a:t>
            </a:r>
            <a:endParaRPr lang="en-US" sz="1100" dirty="0"/>
          </a:p>
        </p:txBody>
      </p:sp>
      <p:sp>
        <p:nvSpPr>
          <p:cNvPr id="39" name="card-373"/>
          <p:cNvSpPr/>
          <p:nvPr/>
        </p:nvSpPr>
        <p:spPr>
          <a:xfrm>
            <a:off x="9052560" y="13716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E8A33D"/>
          </a:solidFill>
          <a:ln/>
        </p:spPr>
      </p:sp>
      <p:sp>
        <p:nvSpPr>
          <p:cNvPr id="40" name="txt-374"/>
          <p:cNvSpPr txBox="1"/>
          <p:nvPr/>
        </p:nvSpPr>
        <p:spPr>
          <a:xfrm>
            <a:off x="9052560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VEX</a:t>
            </a:r>
            <a:endParaRPr lang="en-US" sz="1600" dirty="0"/>
          </a:p>
        </p:txBody>
      </p:sp>
      <p:sp>
        <p:nvSpPr>
          <p:cNvPr id="41" name="card-375"/>
          <p:cNvSpPr/>
          <p:nvPr/>
        </p:nvSpPr>
        <p:spPr>
          <a:xfrm>
            <a:off x="9052560" y="2103120"/>
            <a:ext cx="26517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</p:sp>
      <p:sp>
        <p:nvSpPr>
          <p:cNvPr id="42" name="txt-376"/>
          <p:cNvSpPr txBox="1"/>
          <p:nvPr/>
        </p:nvSpPr>
        <p:spPr>
          <a:xfrm>
            <a:off x="9189720" y="21579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vexctl</a:t>
            </a:r>
            <a:endParaRPr lang="en-US" sz="1400" dirty="0"/>
          </a:p>
        </p:txBody>
      </p:sp>
      <p:sp>
        <p:nvSpPr>
          <p:cNvPr id="43" name="txt-377"/>
          <p:cNvSpPr txBox="1"/>
          <p:nvPr/>
        </p:nvSpPr>
        <p:spPr>
          <a:xfrm>
            <a:off x="9189720" y="246888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create／merge／validate／attest</a:t>
            </a:r>
            <a:endParaRPr lang="en-US" sz="1100" dirty="0"/>
          </a:p>
        </p:txBody>
      </p:sp>
      <p:sp>
        <p:nvSpPr>
          <p:cNvPr id="44" name="card-378"/>
          <p:cNvSpPr/>
          <p:nvPr/>
        </p:nvSpPr>
        <p:spPr>
          <a:xfrm>
            <a:off x="9052560" y="2907792"/>
            <a:ext cx="26517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</p:sp>
      <p:sp>
        <p:nvSpPr>
          <p:cNvPr id="45" name="txt-379"/>
          <p:cNvSpPr txBox="1"/>
          <p:nvPr/>
        </p:nvSpPr>
        <p:spPr>
          <a:xfrm>
            <a:off x="9189720" y="29626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trivy --vex</a:t>
            </a:r>
            <a:endParaRPr lang="en-US" sz="1400" dirty="0"/>
          </a:p>
        </p:txBody>
      </p:sp>
      <p:sp>
        <p:nvSpPr>
          <p:cNvPr id="46" name="txt-380"/>
          <p:cNvSpPr txBox="1"/>
          <p:nvPr/>
        </p:nvSpPr>
        <p:spPr>
          <a:xfrm>
            <a:off x="9189720" y="327355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套用 VEX 過濾</a:t>
            </a:r>
            <a:endParaRPr lang="en-US" sz="1100" dirty="0"/>
          </a:p>
        </p:txBody>
      </p:sp>
      <p:sp>
        <p:nvSpPr>
          <p:cNvPr id="47" name="txt-381"/>
          <p:cNvSpPr txBox="1"/>
          <p:nvPr/>
        </p:nvSpPr>
        <p:spPr>
          <a:xfrm>
            <a:off x="548640" y="6172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★ 本次實測或腳本中使用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實驗一：syft + grype 掃 .NET 發佈產物</a:t>
            </a:r>
            <a:endParaRPr lang="en-US" sz="3200" dirty="0"/>
          </a:p>
        </p:txBody>
      </p:sp>
      <p:sp>
        <p:nvSpPr>
          <p:cNvPr id="3" name="card-382"/>
          <p:cNvSpPr/>
          <p:nvPr/>
        </p:nvSpPr>
        <p:spPr>
          <a:xfrm>
            <a:off x="548640" y="1371600"/>
            <a:ext cx="5852160" cy="4846320"/>
          </a:xfrm>
          <a:prstGeom prst="roundRect">
            <a:avLst>
              <a:gd name="adj" fmla="val 1509"/>
            </a:avLst>
          </a:prstGeom>
          <a:solidFill>
            <a:schemeClr val="tx2"/>
          </a:solidFill>
          <a:ln/>
        </p:spPr>
      </p:sp>
      <p:sp>
        <p:nvSpPr>
          <p:cNvPr id="4" name="code-383"/>
          <p:cNvSpPr txBox="1"/>
          <p:nvPr/>
        </p:nvSpPr>
        <p:spPr>
          <a:xfrm>
            <a:off x="731520" y="150876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CC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安裝（Windows）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winget install Anchore.Syft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winget install Anchore.Grype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CC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只掃 publish 產物，指定名稱與版本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syft dir:publish \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--source-name MyApp \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--source-version 1.7.14-release \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-o cyclonedx-json=publish.sbom.cdx.json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CC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更新弱點 DB 後掃描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grype db status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grype sbom:publish.sbom.cdx.json -o table</a:t>
            </a:r>
            <a:endParaRPr lang="en-US" sz="1300" dirty="0"/>
          </a:p>
        </p:txBody>
      </p:sp>
      <p:sp>
        <p:nvSpPr>
          <p:cNvPr id="5" name="card-384"/>
          <p:cNvSpPr/>
          <p:nvPr/>
        </p:nvSpPr>
        <p:spPr>
          <a:xfrm>
            <a:off x="6766560" y="1371600"/>
            <a:ext cx="2331720" cy="2743200"/>
          </a:xfrm>
          <a:prstGeom prst="roundRect">
            <a:avLst>
              <a:gd name="adj" fmla="val 4706"/>
            </a:avLst>
          </a:prstGeom>
          <a:solidFill>
            <a:srgbClr val="FBEDEE"/>
          </a:solidFill>
          <a:ln/>
        </p:spPr>
      </p:sp>
      <p:sp>
        <p:nvSpPr>
          <p:cNvPr id="6" name="txt-385"/>
          <p:cNvSpPr txBox="1"/>
          <p:nvPr/>
        </p:nvSpPr>
        <p:spPr>
          <a:xfrm>
            <a:off x="6766560" y="1554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3"/>
                </a:solidFill>
              </a:rPr>
              <a:t>1365</a:t>
            </a:r>
            <a:endParaRPr lang="en-US" sz="5400" dirty="0"/>
          </a:p>
        </p:txBody>
      </p:sp>
      <p:sp>
        <p:nvSpPr>
          <p:cNvPr id="7" name="txt-386"/>
          <p:cNvSpPr txBox="1"/>
          <p:nvPr/>
        </p:nvSpPr>
        <p:spPr>
          <a:xfrm>
            <a:off x="6903720" y="26517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掃整個專案目錄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（bin／obj／publish 重複計算）</a:t>
            </a:r>
            <a:endParaRPr lang="en-US" sz="1300" dirty="0"/>
          </a:p>
        </p:txBody>
      </p:sp>
      <p:sp>
        <p:nvSpPr>
          <p:cNvPr id="8" name="card-387"/>
          <p:cNvSpPr/>
          <p:nvPr/>
        </p:nvSpPr>
        <p:spPr>
          <a:xfrm>
            <a:off x="9281160" y="1371600"/>
            <a:ext cx="2331720" cy="2743200"/>
          </a:xfrm>
          <a:prstGeom prst="roundRect">
            <a:avLst>
              <a:gd name="adj" fmla="val 4706"/>
            </a:avLst>
          </a:prstGeom>
          <a:solidFill>
            <a:srgbClr val="DCEFEA"/>
          </a:solidFill>
          <a:ln/>
        </p:spPr>
      </p:sp>
      <p:sp>
        <p:nvSpPr>
          <p:cNvPr id="9" name="txt-388"/>
          <p:cNvSpPr txBox="1"/>
          <p:nvPr/>
        </p:nvSpPr>
        <p:spPr>
          <a:xfrm>
            <a:off x="9281160" y="1554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176</a:t>
            </a:r>
            <a:endParaRPr lang="en-US" sz="5400" dirty="0"/>
          </a:p>
        </p:txBody>
      </p:sp>
      <p:sp>
        <p:nvSpPr>
          <p:cNvPr id="10" name="txt-389"/>
          <p:cNvSpPr txBox="1"/>
          <p:nvPr/>
        </p:nvSpPr>
        <p:spPr>
          <a:xfrm>
            <a:off x="9418320" y="26517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只掃 publish 產物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170 個 NuGet + 6 個 application</a:t>
            </a:r>
            <a:endParaRPr lang="en-US" sz="1300" dirty="0"/>
          </a:p>
        </p:txBody>
      </p:sp>
      <p:sp>
        <p:nvSpPr>
          <p:cNvPr id="11" name="txt-390"/>
          <p:cNvSpPr txBox="1"/>
          <p:nvPr/>
        </p:nvSpPr>
        <p:spPr>
          <a:xfrm>
            <a:off x="6766560" y="43434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掃描範圍決定清單品質：只掃要出貨的東西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設定 --source-name／--source-version，避免警告與用路徑推導 ID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版本可從 publish/*.deps.json 取得</a:t>
            </a:r>
            <a:endParaRPr lang="en-US" sz="1400" dirty="0"/>
          </a:p>
        </p:txBody>
      </p:sp>
      <p:sp>
        <p:nvSpPr>
          <p:cNvPr id="12" name="txt-391"/>
          <p:cNvSpPr txBox="1"/>
          <p:nvPr/>
        </p:nvSpPr>
        <p:spPr>
          <a:xfrm>
            <a:off x="438912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實測環境：syft 1.52.0、grype 0.119.0、輸出 CycloneDX 1.7（2026-10-01）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實驗一踩到的三個坑</a:t>
            </a:r>
            <a:endParaRPr lang="en-US" sz="3200" dirty="0"/>
          </a:p>
        </p:txBody>
      </p:sp>
      <p:sp>
        <p:nvSpPr>
          <p:cNvPr id="3" name="card-392"/>
          <p:cNvSpPr/>
          <p:nvPr/>
        </p:nvSpPr>
        <p:spPr>
          <a:xfrm>
            <a:off x="548640" y="1371600"/>
            <a:ext cx="3520440" cy="48006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4" name="iconbg-393"/>
          <p:cNvSpPr/>
          <p:nvPr/>
        </p:nvSpPr>
        <p:spPr>
          <a:xfrm>
            <a:off x="822960" y="1600200"/>
            <a:ext cx="822960" cy="822960"/>
          </a:xfrm>
          <a:prstGeom prst="ellipse">
            <a:avLst/>
          </a:prstGeom>
          <a:solidFill>
            <a:srgbClr val="C8424F"/>
          </a:solidFill>
          <a:ln/>
        </p:spPr>
      </p:sp>
      <p:pic>
        <p:nvPicPr>
          <p:cNvPr id="5" name="icon-39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05940"/>
            <a:ext cx="411480" cy="411480"/>
          </a:xfrm>
          <a:prstGeom prst="rect">
            <a:avLst/>
          </a:prstGeom>
        </p:spPr>
      </p:pic>
      <p:sp>
        <p:nvSpPr>
          <p:cNvPr id="6" name="txt-395"/>
          <p:cNvSpPr txBox="1"/>
          <p:nvPr/>
        </p:nvSpPr>
        <p:spPr>
          <a:xfrm>
            <a:off x="82296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沒有 purl 就不會比對</a:t>
            </a:r>
            <a:endParaRPr lang="en-US" sz="2000" dirty="0"/>
          </a:p>
        </p:txBody>
      </p:sp>
      <p:sp>
        <p:nvSpPr>
          <p:cNvPr id="7" name="txt-396"/>
          <p:cNvSpPr txBox="1"/>
          <p:nvPr/>
        </p:nvSpPr>
        <p:spPr>
          <a:xfrm>
            <a:off x="822960" y="324612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grype 只比對有 purl 的套件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6 個 application 元件沒有 purl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同套件出現兩種寫法：「Aspect Injector」與「AspectInjector」</a:t>
            </a:r>
            <a:endParaRPr lang="en-US" sz="1500" dirty="0"/>
          </a:p>
        </p:txBody>
      </p:sp>
      <p:sp>
        <p:nvSpPr>
          <p:cNvPr id="8" name="card-397"/>
          <p:cNvSpPr/>
          <p:nvPr/>
        </p:nvSpPr>
        <p:spPr>
          <a:xfrm>
            <a:off x="4297680" y="1371600"/>
            <a:ext cx="3520440" cy="48006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9" name="iconbg-398"/>
          <p:cNvSpPr/>
          <p:nvPr/>
        </p:nvSpPr>
        <p:spPr>
          <a:xfrm>
            <a:off x="4572000" y="1600200"/>
            <a:ext cx="822960" cy="822960"/>
          </a:xfrm>
          <a:prstGeom prst="ellipse">
            <a:avLst/>
          </a:prstGeom>
          <a:solidFill>
            <a:srgbClr val="C8424F"/>
          </a:solidFill>
          <a:ln/>
        </p:spPr>
      </p:sp>
      <p:pic>
        <p:nvPicPr>
          <p:cNvPr id="10" name="icon-39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1805940"/>
            <a:ext cx="411480" cy="411480"/>
          </a:xfrm>
          <a:prstGeom prst="rect">
            <a:avLst/>
          </a:prstGeom>
        </p:spPr>
      </p:pic>
      <p:sp>
        <p:nvSpPr>
          <p:cNvPr id="11" name="txt-400"/>
          <p:cNvSpPr txBox="1"/>
          <p:nvPr/>
        </p:nvSpPr>
        <p:spPr>
          <a:xfrm>
            <a:off x="457200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0 漏洞 ≠ 安全</a:t>
            </a:r>
            <a:endParaRPr lang="en-US" sz="2000" dirty="0"/>
          </a:p>
        </p:txBody>
      </p:sp>
      <p:sp>
        <p:nvSpPr>
          <p:cNvPr id="12" name="txt-401"/>
          <p:cNvSpPr txBox="1"/>
          <p:nvPr/>
        </p:nvSpPr>
        <p:spPr>
          <a:xfrm>
            <a:off x="4572000" y="324612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matches 與 ignoredMatches 皆空 = 無「已知」弱點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.NET 執行環境本身不在掃描範圍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結果取決於 DB：本例 schema v6.1.9、built 2026-09-30</a:t>
            </a:r>
            <a:endParaRPr lang="en-US" sz="1500" dirty="0"/>
          </a:p>
        </p:txBody>
      </p:sp>
      <p:sp>
        <p:nvSpPr>
          <p:cNvPr id="13" name="card-402"/>
          <p:cNvSpPr/>
          <p:nvPr/>
        </p:nvSpPr>
        <p:spPr>
          <a:xfrm>
            <a:off x="8046720" y="1371600"/>
            <a:ext cx="3520440" cy="48006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4" name="iconbg-403"/>
          <p:cNvSpPr/>
          <p:nvPr/>
        </p:nvSpPr>
        <p:spPr>
          <a:xfrm>
            <a:off x="8321040" y="1600200"/>
            <a:ext cx="822960" cy="82296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5" name="icon-40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0" y="1805940"/>
            <a:ext cx="411480" cy="411480"/>
          </a:xfrm>
          <a:prstGeom prst="rect">
            <a:avLst/>
          </a:prstGeom>
        </p:spPr>
      </p:pic>
      <p:sp>
        <p:nvSpPr>
          <p:cNvPr id="16" name="txt-405"/>
          <p:cNvSpPr txBox="1"/>
          <p:nvPr/>
        </p:nvSpPr>
        <p:spPr>
          <a:xfrm>
            <a:off x="832104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拿不到授權資訊</a:t>
            </a:r>
            <a:endParaRPr lang="en-US" sz="2000" dirty="0"/>
          </a:p>
        </p:txBody>
      </p:sp>
      <p:sp>
        <p:nvSpPr>
          <p:cNvPr id="17" name="txt-406"/>
          <p:cNvSpPr txBox="1"/>
          <p:nvPr/>
        </p:nvSpPr>
        <p:spPr>
          <a:xfrm>
            <a:off x="8321040" y="324612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syft 取不到 .NET 套件的 license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無法快速檢查授權是否核可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→ 這是改走 dotnet-CycloneDX 路線的主因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實驗二：dotnet-CycloneDX + trivy</a:t>
            </a:r>
            <a:endParaRPr lang="en-US" sz="3200" dirty="0"/>
          </a:p>
        </p:txBody>
      </p:sp>
      <p:sp>
        <p:nvSpPr>
          <p:cNvPr id="3" name="card-407"/>
          <p:cNvSpPr/>
          <p:nvPr/>
        </p:nvSpPr>
        <p:spPr>
          <a:xfrm>
            <a:off x="548640" y="1371600"/>
            <a:ext cx="6309360" cy="4846320"/>
          </a:xfrm>
          <a:prstGeom prst="roundRect">
            <a:avLst>
              <a:gd name="adj" fmla="val 1509"/>
            </a:avLst>
          </a:prstGeom>
          <a:solidFill>
            <a:schemeClr val="tx2"/>
          </a:solidFill>
          <a:ln/>
        </p:spPr>
      </p:sp>
      <p:sp>
        <p:nvSpPr>
          <p:cNvPr id="4" name="code-408"/>
          <p:cNvSpPr txBox="1"/>
          <p:nvPr/>
        </p:nvSpPr>
        <p:spPr>
          <a:xfrm>
            <a:off x="731520" y="1508760"/>
            <a:ext cx="5943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tool install --global CycloneDX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C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版本號從 csproj 的 VersionPrefix/Suffix 取得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V="$PREFIX-$SUFFIX"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dotnet-CycloneDX MyWebApp.sln -o .sbom \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-fn "MyWebApp.$V.cdx.json" --json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C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弱點：人看一份、機器讀一份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trivy sbom $SBOM --scanners vuln --format table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trivy sbom $SBOM --scanners vuln --format json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CC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授權：先濾掉 Microsoft 發行的套件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trivy sbom $LIC_SBOM --scanners license \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--severity UNKNOWN,MEDIUM,HIGH,CRITICAL</a:t>
            </a:r>
            <a:endParaRPr lang="en-US" sz="1200" dirty="0"/>
          </a:p>
        </p:txBody>
      </p:sp>
      <p:sp>
        <p:nvSpPr>
          <p:cNvPr id="5" name="chip-409"/>
          <p:cNvSpPr/>
          <p:nvPr/>
        </p:nvSpPr>
        <p:spPr>
          <a:xfrm>
            <a:off x="717804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xt-410"/>
          <p:cNvSpPr txBox="1"/>
          <p:nvPr/>
        </p:nvSpPr>
        <p:spPr>
          <a:xfrm>
            <a:off x="71780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xt-411"/>
          <p:cNvSpPr txBox="1"/>
          <p:nvPr/>
        </p:nvSpPr>
        <p:spPr>
          <a:xfrm>
            <a:off x="7818120" y="13716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檔名帶版本</a:t>
            </a:r>
            <a:endParaRPr lang="en-US" sz="1600" dirty="0"/>
          </a:p>
        </p:txBody>
      </p:sp>
      <p:sp>
        <p:nvSpPr>
          <p:cNvPr id="8" name="txt-412"/>
          <p:cNvSpPr txBox="1"/>
          <p:nvPr/>
        </p:nvSpPr>
        <p:spPr>
          <a:xfrm>
            <a:off x="7818120" y="175564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從 csproj 取 VersionPrefix／VersionSuffix，SBOM 可對回發佈版本</a:t>
            </a:r>
            <a:endParaRPr lang="en-US" sz="1400" dirty="0"/>
          </a:p>
        </p:txBody>
      </p:sp>
      <p:sp>
        <p:nvSpPr>
          <p:cNvPr id="9" name="chip-413"/>
          <p:cNvSpPr/>
          <p:nvPr/>
        </p:nvSpPr>
        <p:spPr>
          <a:xfrm>
            <a:off x="7178040" y="26334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xt-414"/>
          <p:cNvSpPr txBox="1"/>
          <p:nvPr/>
        </p:nvSpPr>
        <p:spPr>
          <a:xfrm>
            <a:off x="717804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xt-415"/>
          <p:cNvSpPr txBox="1"/>
          <p:nvPr/>
        </p:nvSpPr>
        <p:spPr>
          <a:xfrm>
            <a:off x="7818120" y="258775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記得指定 JSON</a:t>
            </a:r>
            <a:endParaRPr lang="en-US" sz="1600" dirty="0"/>
          </a:p>
        </p:txBody>
      </p:sp>
      <p:sp>
        <p:nvSpPr>
          <p:cNvPr id="12" name="txt-416"/>
          <p:cNvSpPr txBox="1"/>
          <p:nvPr/>
        </p:nvSpPr>
        <p:spPr>
          <a:xfrm>
            <a:off x="7818120" y="297180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預設輸出 XML（bom.xml）；-t 可排除測試專案</a:t>
            </a:r>
            <a:endParaRPr lang="en-US" sz="1400" dirty="0"/>
          </a:p>
        </p:txBody>
      </p:sp>
      <p:sp>
        <p:nvSpPr>
          <p:cNvPr id="13" name="chip-417"/>
          <p:cNvSpPr/>
          <p:nvPr/>
        </p:nvSpPr>
        <p:spPr>
          <a:xfrm>
            <a:off x="7178040" y="384962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xt-418"/>
          <p:cNvSpPr txBox="1"/>
          <p:nvPr/>
        </p:nvSpPr>
        <p:spPr>
          <a:xfrm>
            <a:off x="717804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xt-419"/>
          <p:cNvSpPr txBox="1"/>
          <p:nvPr/>
        </p:nvSpPr>
        <p:spPr>
          <a:xfrm>
            <a:off x="7818120" y="380390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授權報告降噪</a:t>
            </a:r>
            <a:endParaRPr lang="en-US" sz="1600" dirty="0"/>
          </a:p>
        </p:txBody>
      </p:sp>
      <p:sp>
        <p:nvSpPr>
          <p:cNvPr id="16" name="txt-420"/>
          <p:cNvSpPr txBox="1"/>
          <p:nvPr/>
        </p:nvSpPr>
        <p:spPr>
          <a:xfrm>
            <a:off x="7818120" y="418795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用 python 濾掉 System.／Microsoft.／runtime.／NETStandard. 開頭元件，報告只剩需要人看的</a:t>
            </a:r>
            <a:endParaRPr lang="en-US" sz="1400" dirty="0"/>
          </a:p>
        </p:txBody>
      </p:sp>
      <p:sp>
        <p:nvSpPr>
          <p:cNvPr id="17" name="chip-421"/>
          <p:cNvSpPr/>
          <p:nvPr/>
        </p:nvSpPr>
        <p:spPr>
          <a:xfrm>
            <a:off x="7178040" y="5065776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txt-422"/>
          <p:cNvSpPr txBox="1"/>
          <p:nvPr/>
        </p:nvSpPr>
        <p:spPr>
          <a:xfrm>
            <a:off x="7178040" y="5065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xt-423"/>
          <p:cNvSpPr txBox="1"/>
          <p:nvPr/>
        </p:nvSpPr>
        <p:spPr>
          <a:xfrm>
            <a:off x="7818120" y="502005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注意</a:t>
            </a:r>
            <a:endParaRPr lang="en-US" sz="1600" dirty="0"/>
          </a:p>
        </p:txBody>
      </p:sp>
      <p:sp>
        <p:nvSpPr>
          <p:cNvPr id="20" name="txt-424"/>
          <p:cNvSpPr txBox="1"/>
          <p:nvPr/>
        </p:nvSpPr>
        <p:spPr>
          <a:xfrm>
            <a:off x="7818120" y="5404104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前綴過濾可能誤排除同前綴的第三方套件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前端 JS：retire.js 補上 libman 函式庫</a:t>
            </a:r>
            <a:endParaRPr lang="en-US" sz="3200" dirty="0"/>
          </a:p>
        </p:txBody>
      </p:sp>
      <p:sp>
        <p:nvSpPr>
          <p:cNvPr id="3" name="txt-425"/>
          <p:cNvSpPr txBox="1"/>
          <p:nvPr/>
        </p:nvSpPr>
        <p:spPr>
          <a:xfrm>
            <a:off x="548640" y="137160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3B3A"/>
                </a:solidFill>
              </a:rPr>
              <a:t>為什麼不用 cyclonedx-npm？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前端函式庫由 libman 放進 wwwroot/lib，沒有 package.json。retire.js 用檔案內容特徵辨識函式庫與版本。</a:t>
            </a:r>
            <a:endParaRPr lang="en-US" sz="1500" dirty="0"/>
          </a:p>
        </p:txBody>
      </p:sp>
      <p:sp>
        <p:nvSpPr>
          <p:cNvPr id="4" name="card-426"/>
          <p:cNvSpPr/>
          <p:nvPr/>
        </p:nvSpPr>
        <p:spPr>
          <a:xfrm>
            <a:off x="548640" y="2697480"/>
            <a:ext cx="5852160" cy="2971800"/>
          </a:xfrm>
          <a:prstGeom prst="roundRect">
            <a:avLst>
              <a:gd name="adj" fmla="val 2462"/>
            </a:avLst>
          </a:prstGeom>
          <a:solidFill>
            <a:schemeClr val="tx2"/>
          </a:solidFill>
          <a:ln/>
        </p:spPr>
      </p:sp>
      <p:sp>
        <p:nvSpPr>
          <p:cNvPr id="5" name="code-427"/>
          <p:cNvSpPr txBox="1"/>
          <p:nvPr/>
        </p:nvSpPr>
        <p:spPr>
          <a:xfrm>
            <a:off x="731520" y="2834640"/>
            <a:ext cx="54864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retire --path MyWebApp/wwwroot/lib \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--outputformat cyclonedxJSON \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--outputpath $JS_SBOM || true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cyclonedx-win-x64 merge \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--input-files $SBOM $JS_SBOM \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--output-file $ALL_SBOM \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--output-format json</a:t>
            </a:r>
            <a:endParaRPr lang="en-US" sz="1300" dirty="0"/>
          </a:p>
        </p:txBody>
      </p:sp>
      <p:sp>
        <p:nvSpPr>
          <p:cNvPr id="6" name="txt-428"/>
          <p:cNvSpPr txBox="1"/>
          <p:nvPr/>
        </p:nvSpPr>
        <p:spPr>
          <a:xfrm>
            <a:off x="548640" y="58064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合併後只對一份 SBOM 跑 trivy，報告不用分兩套看。</a:t>
            </a:r>
            <a:endParaRPr lang="en-US" sz="1400" dirty="0"/>
          </a:p>
        </p:txBody>
      </p:sp>
      <p:sp>
        <p:nvSpPr>
          <p:cNvPr id="7" name="card-429"/>
          <p:cNvSpPr/>
          <p:nvPr/>
        </p:nvSpPr>
        <p:spPr>
          <a:xfrm>
            <a:off x="6766560" y="1371600"/>
            <a:ext cx="4846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8" name="iconbg-430"/>
          <p:cNvSpPr/>
          <p:nvPr/>
        </p:nvSpPr>
        <p:spPr>
          <a:xfrm>
            <a:off x="6949440" y="1691640"/>
            <a:ext cx="777240" cy="777240"/>
          </a:xfrm>
          <a:prstGeom prst="ellipse">
            <a:avLst/>
          </a:prstGeom>
          <a:solidFill>
            <a:srgbClr val="C8424F"/>
          </a:solidFill>
          <a:ln/>
        </p:spPr>
      </p:sp>
      <p:pic>
        <p:nvPicPr>
          <p:cNvPr id="9" name="icon-43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750" y="1885950"/>
            <a:ext cx="388620" cy="388620"/>
          </a:xfrm>
          <a:prstGeom prst="rect">
            <a:avLst/>
          </a:prstGeom>
        </p:spPr>
      </p:pic>
      <p:sp>
        <p:nvSpPr>
          <p:cNvPr id="10" name="txt-432"/>
          <p:cNvSpPr txBox="1"/>
          <p:nvPr/>
        </p:nvSpPr>
        <p:spPr>
          <a:xfrm>
            <a:off x="7909560" y="1554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CSS 不掃</a:t>
            </a:r>
            <a:endParaRPr lang="en-US" sz="1700" dirty="0"/>
          </a:p>
        </p:txBody>
      </p:sp>
      <p:sp>
        <p:nvSpPr>
          <p:cNvPr id="11" name="txt-433"/>
          <p:cNvSpPr txBox="1"/>
          <p:nvPr/>
        </p:nvSpPr>
        <p:spPr>
          <a:xfrm>
            <a:off x="7909560" y="1965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animate.css 不會出現在 SBOM</a:t>
            </a:r>
            <a:endParaRPr lang="en-US" sz="1400" dirty="0"/>
          </a:p>
        </p:txBody>
      </p:sp>
      <p:sp>
        <p:nvSpPr>
          <p:cNvPr id="12" name="card-434"/>
          <p:cNvSpPr/>
          <p:nvPr/>
        </p:nvSpPr>
        <p:spPr>
          <a:xfrm>
            <a:off x="6766560" y="2971800"/>
            <a:ext cx="4846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3" name="iconbg-435"/>
          <p:cNvSpPr/>
          <p:nvPr/>
        </p:nvSpPr>
        <p:spPr>
          <a:xfrm>
            <a:off x="6949440" y="3291840"/>
            <a:ext cx="777240" cy="777240"/>
          </a:xfrm>
          <a:prstGeom prst="ellipse">
            <a:avLst/>
          </a:prstGeom>
          <a:solidFill>
            <a:srgbClr val="C8424F"/>
          </a:solidFill>
          <a:ln/>
        </p:spPr>
      </p:sp>
      <p:pic>
        <p:nvPicPr>
          <p:cNvPr id="14" name="icon-43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0" y="3486150"/>
            <a:ext cx="388620" cy="388620"/>
          </a:xfrm>
          <a:prstGeom prst="rect">
            <a:avLst/>
          </a:prstGeom>
        </p:spPr>
      </p:pic>
      <p:sp>
        <p:nvSpPr>
          <p:cNvPr id="15" name="txt-437"/>
          <p:cNvSpPr txBox="1"/>
          <p:nvPr/>
        </p:nvSpPr>
        <p:spPr>
          <a:xfrm>
            <a:off x="7909560" y="3154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部分函式庫辨識不到</a:t>
            </a:r>
            <a:endParaRPr lang="en-US" sz="1700" dirty="0"/>
          </a:p>
        </p:txBody>
      </p:sp>
      <p:sp>
        <p:nvSpPr>
          <p:cNvPr id="16" name="txt-438"/>
          <p:cNvSpPr txBox="1"/>
          <p:nvPr/>
        </p:nvSpPr>
        <p:spPr>
          <a:xfrm>
            <a:off x="7909560" y="3566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print-js、viewerjs 可能漏掉，需人工補登</a:t>
            </a:r>
            <a:endParaRPr lang="en-US" sz="1400" dirty="0"/>
          </a:p>
        </p:txBody>
      </p:sp>
      <p:sp>
        <p:nvSpPr>
          <p:cNvPr id="17" name="card-439"/>
          <p:cNvSpPr/>
          <p:nvPr/>
        </p:nvSpPr>
        <p:spPr>
          <a:xfrm>
            <a:off x="6766560" y="4572000"/>
            <a:ext cx="4846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8" name="iconbg-440"/>
          <p:cNvSpPr/>
          <p:nvPr/>
        </p:nvSpPr>
        <p:spPr>
          <a:xfrm>
            <a:off x="6949440" y="4892040"/>
            <a:ext cx="777240" cy="77724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9" name="icon-44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0" y="5086350"/>
            <a:ext cx="388620" cy="388620"/>
          </a:xfrm>
          <a:prstGeom prst="rect">
            <a:avLst/>
          </a:prstGeom>
        </p:spPr>
      </p:pic>
      <p:sp>
        <p:nvSpPr>
          <p:cNvPr id="20" name="txt-442"/>
          <p:cNvSpPr txBox="1"/>
          <p:nvPr/>
        </p:nvSpPr>
        <p:spPr>
          <a:xfrm>
            <a:off x="7909560" y="4754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exit code 13</a:t>
            </a:r>
            <a:endParaRPr lang="en-US" sz="1700" dirty="0"/>
          </a:p>
        </p:txBody>
      </p:sp>
      <p:sp>
        <p:nvSpPr>
          <p:cNvPr id="21" name="txt-443"/>
          <p:cNvSpPr txBox="1"/>
          <p:nvPr/>
        </p:nvSpPr>
        <p:spPr>
          <a:xfrm>
            <a:off x="7909560" y="5166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發現弱點時回傳 13，set -e 下會中斷 → || true 或 --exitwith 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腳本全貌：一個指令，四份產出</a:t>
            </a:r>
            <a:endParaRPr lang="en-US" sz="3200" dirty="0"/>
          </a:p>
        </p:txBody>
      </p:sp>
      <p:sp>
        <p:nvSpPr>
          <p:cNvPr id="3" name="card-444"/>
          <p:cNvSpPr/>
          <p:nvPr/>
        </p:nvSpPr>
        <p:spPr>
          <a:xfrm>
            <a:off x="548640" y="1554480"/>
            <a:ext cx="19202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4" name="txt-445"/>
          <p:cNvSpPr txBox="1"/>
          <p:nvPr/>
        </p:nvSpPr>
        <p:spPr>
          <a:xfrm>
            <a:off x="548640" y="1554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MyWebApp.sln</a:t>
            </a:r>
            <a:endParaRPr lang="en-US" sz="1300" dirty="0"/>
          </a:p>
        </p:txBody>
      </p:sp>
      <p:sp>
        <p:nvSpPr>
          <p:cNvPr id="5" name="card-446"/>
          <p:cNvSpPr/>
          <p:nvPr/>
        </p:nvSpPr>
        <p:spPr>
          <a:xfrm>
            <a:off x="548640" y="3017520"/>
            <a:ext cx="192024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6" name="txt-447"/>
          <p:cNvSpPr txBox="1"/>
          <p:nvPr/>
        </p:nvSpPr>
        <p:spPr>
          <a:xfrm>
            <a:off x="548640" y="30175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wwwroot/lib</a:t>
            </a:r>
            <a:endParaRPr lang="en-US" sz="1300" dirty="0"/>
          </a:p>
        </p:txBody>
      </p:sp>
      <p:sp>
        <p:nvSpPr>
          <p:cNvPr id="7" name="card-448"/>
          <p:cNvSpPr/>
          <p:nvPr/>
        </p:nvSpPr>
        <p:spPr>
          <a:xfrm>
            <a:off x="2834640" y="1554480"/>
            <a:ext cx="210312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</p:sp>
      <p:sp>
        <p:nvSpPr>
          <p:cNvPr id="8" name="txt-449"/>
          <p:cNvSpPr txBox="1"/>
          <p:nvPr/>
        </p:nvSpPr>
        <p:spPr>
          <a:xfrm>
            <a:off x="2834640" y="1554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dotnet-CycloneDX</a:t>
            </a:r>
            <a:endParaRPr lang="en-US" sz="1300" dirty="0"/>
          </a:p>
        </p:txBody>
      </p:sp>
      <p:sp>
        <p:nvSpPr>
          <p:cNvPr id="9" name="card-450"/>
          <p:cNvSpPr/>
          <p:nvPr/>
        </p:nvSpPr>
        <p:spPr>
          <a:xfrm>
            <a:off x="2834640" y="3017520"/>
            <a:ext cx="210312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</p:sp>
      <p:sp>
        <p:nvSpPr>
          <p:cNvPr id="10" name="txt-451"/>
          <p:cNvSpPr txBox="1"/>
          <p:nvPr/>
        </p:nvSpPr>
        <p:spPr>
          <a:xfrm>
            <a:off x="2834640" y="3017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retire.js</a:t>
            </a:r>
            <a:endParaRPr lang="en-US" sz="1300" dirty="0"/>
          </a:p>
        </p:txBody>
      </p:sp>
      <p:sp>
        <p:nvSpPr>
          <p:cNvPr id="11" name="card-452"/>
          <p:cNvSpPr/>
          <p:nvPr/>
        </p:nvSpPr>
        <p:spPr>
          <a:xfrm>
            <a:off x="5303520" y="2286000"/>
            <a:ext cx="1828800" cy="73152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/>
        </p:spPr>
      </p:sp>
      <p:sp>
        <p:nvSpPr>
          <p:cNvPr id="12" name="txt-453"/>
          <p:cNvSpPr txBox="1"/>
          <p:nvPr/>
        </p:nvSpPr>
        <p:spPr>
          <a:xfrm>
            <a:off x="530352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cyclonedx-cli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merge</a:t>
            </a:r>
            <a:endParaRPr lang="en-US" sz="1300" dirty="0"/>
          </a:p>
        </p:txBody>
      </p:sp>
      <p:sp>
        <p:nvSpPr>
          <p:cNvPr id="13" name="card-454"/>
          <p:cNvSpPr/>
          <p:nvPr/>
        </p:nvSpPr>
        <p:spPr>
          <a:xfrm>
            <a:off x="7498080" y="2286000"/>
            <a:ext cx="2011680" cy="731520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/>
        </p:spPr>
      </p:sp>
      <p:sp>
        <p:nvSpPr>
          <p:cNvPr id="14" name="txt-455"/>
          <p:cNvSpPr txBox="1"/>
          <p:nvPr/>
        </p:nvSpPr>
        <p:spPr>
          <a:xfrm>
            <a:off x="7498080" y="2286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trivy sbom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vuln ×2、license ×1</a:t>
            </a:r>
            <a:endParaRPr lang="en-US" sz="1300" dirty="0"/>
          </a:p>
        </p:txBody>
      </p:sp>
      <p:sp>
        <p:nvSpPr>
          <p:cNvPr id="15" name="arrow-456"/>
          <p:cNvSpPr/>
          <p:nvPr/>
        </p:nvSpPr>
        <p:spPr>
          <a:xfrm>
            <a:off x="2468880" y="1920240"/>
            <a:ext cx="365760" cy="914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6" name="arrow-457"/>
          <p:cNvSpPr/>
          <p:nvPr/>
        </p:nvSpPr>
        <p:spPr>
          <a:xfrm>
            <a:off x="2468880" y="3383280"/>
            <a:ext cx="365760" cy="914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7" name="arrow-458"/>
          <p:cNvSpPr/>
          <p:nvPr/>
        </p:nvSpPr>
        <p:spPr>
          <a:xfrm>
            <a:off x="4937760" y="1920240"/>
            <a:ext cx="365760" cy="594360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8" name="arrow-459"/>
          <p:cNvSpPr/>
          <p:nvPr/>
        </p:nvSpPr>
        <p:spPr>
          <a:xfrm flipV="1">
            <a:off x="4937760" y="2788920"/>
            <a:ext cx="365760" cy="594360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9" name="arrow-460"/>
          <p:cNvSpPr/>
          <p:nvPr/>
        </p:nvSpPr>
        <p:spPr>
          <a:xfrm>
            <a:off x="7132320" y="2651760"/>
            <a:ext cx="365760" cy="914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20" name="card-461"/>
          <p:cNvSpPr/>
          <p:nvPr/>
        </p:nvSpPr>
        <p:spPr>
          <a:xfrm>
            <a:off x="9829800" y="1371600"/>
            <a:ext cx="1783080" cy="329184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</p:sp>
      <p:sp>
        <p:nvSpPr>
          <p:cNvPr id="21" name="txt-462"/>
          <p:cNvSpPr txBox="1"/>
          <p:nvPr/>
        </p:nvSpPr>
        <p:spPr>
          <a:xfrm>
            <a:off x="996696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.sbom/</a:t>
            </a:r>
            <a:endParaRPr lang="en-US" sz="1300" dirty="0"/>
          </a:p>
        </p:txBody>
      </p:sp>
      <p:sp>
        <p:nvSpPr>
          <p:cNvPr id="22" name="txt-463"/>
          <p:cNvSpPr txBox="1"/>
          <p:nvPr/>
        </p:nvSpPr>
        <p:spPr>
          <a:xfrm>
            <a:off x="9966960" y="1874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….cdx.json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CC5B6"/>
                </a:solidFill>
              </a:rPr>
              <a:t>合併後的 SBOM</a:t>
            </a:r>
            <a:endParaRPr lang="en-US" sz="1100" dirty="0"/>
          </a:p>
        </p:txBody>
      </p:sp>
      <p:sp>
        <p:nvSpPr>
          <p:cNvPr id="23" name="txt-464"/>
          <p:cNvSpPr txBox="1"/>
          <p:nvPr/>
        </p:nvSpPr>
        <p:spPr>
          <a:xfrm>
            <a:off x="9966960" y="2560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….vuln.txt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CC5B6"/>
                </a:solidFill>
              </a:rPr>
              <a:t>弱點（人看）</a:t>
            </a:r>
            <a:endParaRPr lang="en-US" sz="1100" dirty="0"/>
          </a:p>
        </p:txBody>
      </p:sp>
      <p:sp>
        <p:nvSpPr>
          <p:cNvPr id="24" name="txt-465"/>
          <p:cNvSpPr txBox="1"/>
          <p:nvPr/>
        </p:nvSpPr>
        <p:spPr>
          <a:xfrm>
            <a:off x="9966960" y="32461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….vuln.json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CC5B6"/>
                </a:solidFill>
              </a:rPr>
              <a:t>弱點（機器讀）</a:t>
            </a:r>
            <a:endParaRPr lang="en-US" sz="1100" dirty="0"/>
          </a:p>
        </p:txBody>
      </p:sp>
      <p:sp>
        <p:nvSpPr>
          <p:cNvPr id="25" name="txt-466"/>
          <p:cNvSpPr txBox="1"/>
          <p:nvPr/>
        </p:nvSpPr>
        <p:spPr>
          <a:xfrm>
            <a:off x="9966960" y="3931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….lic.txt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CC5B6"/>
                </a:solidFill>
              </a:rPr>
              <a:t>授權風險</a:t>
            </a:r>
            <a:endParaRPr lang="en-US" sz="1100" dirty="0"/>
          </a:p>
        </p:txBody>
      </p:sp>
      <p:sp>
        <p:nvSpPr>
          <p:cNvPr id="26" name="arrow-467"/>
          <p:cNvSpPr/>
          <p:nvPr/>
        </p:nvSpPr>
        <p:spPr>
          <a:xfrm>
            <a:off x="9509760" y="2651760"/>
            <a:ext cx="320040" cy="914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27" name="card-468"/>
          <p:cNvSpPr/>
          <p:nvPr/>
        </p:nvSpPr>
        <p:spPr>
          <a:xfrm>
            <a:off x="548640" y="4892040"/>
            <a:ext cx="110642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8" name="txt-469"/>
          <p:cNvSpPr txBox="1"/>
          <p:nvPr/>
        </p:nvSpPr>
        <p:spPr>
          <a:xfrm>
            <a:off x="777240" y="49834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3A"/>
                </a:solidFill>
              </a:rPr>
              <a:t>執行：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在方案根目錄 bash dotnet-js-sbom-scan.sh（Windows 用 Git Bash）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3B3A"/>
                </a:solidFill>
              </a:rPr>
              <a:t>需要：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.NET SDK、dotnet-CycloneDX、trivy（需下載弱點 DB）、python 3、retire、cyclonedx-cli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3B3A"/>
                </a:solidFill>
              </a:rPr>
              <a:t>收尾：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刪除中間檔，只留合併 SBOM 與三份報告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兩條路線怎麼選</a:t>
            </a:r>
            <a:endParaRPr lang="en-US" sz="3200" dirty="0"/>
          </a:p>
        </p:txBody>
      </p:sp>
      <p:graphicFrame>
        <p:nvGraphicFramePr>
          <p:cNvPr id="25" name="rout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路線一：syft + grype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路線二：dotnet-CycloneDX + trivy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3B3A"/>
                          </a:solidFill>
                        </a:rPr>
                        <a:t>輸入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發佈產物（dotnet publish 資料夾）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方案／專案檔（dotnet restore 解析）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3B3A"/>
                          </a:solidFill>
                        </a:rPr>
                        <a:t>SBOM 類型（推論）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Analyzed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Source／Build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3B3A"/>
                          </a:solidFill>
                        </a:rPr>
                        <a:t>.NET 授權資訊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取不到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有，trivy license 掃描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3B3A"/>
                          </a:solidFill>
                        </a:rPr>
                        <a:t>前端 JS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未涵蓋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retire.js + cyclonedx-cli merge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3B3A"/>
                          </a:solidFill>
                        </a:rPr>
                        <a:t>弱點比對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grype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trivy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3B3A"/>
                          </a:solidFill>
                        </a:rPr>
                        <a:t>適合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別人交付的產物、多生態系、容器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自家 .NET 專案、需要授權合規</a:t>
                      </a:r>
                      <a:endParaRPr lang="en-US" sz="15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rd-470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5" name="txt-471"/>
          <p:cNvSpPr txBox="1"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</a:rPr>
              <a:t>我的選擇：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自家 .NET 專案走路線二，收到外部產物時用路線一交叉檢查。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CC5B6"/>
                </a:solidFill>
              </a:rPr>
              <a:t>兩條路線的元件清單是否一致，尚未實測比對。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導入檢核清單</a:t>
            </a:r>
            <a:endParaRPr lang="en-US" sz="3200" dirty="0"/>
          </a:p>
        </p:txBody>
      </p:sp>
      <p:sp>
        <p:nvSpPr>
          <p:cNvPr id="3" name="card-472"/>
          <p:cNvSpPr/>
          <p:nvPr/>
        </p:nvSpPr>
        <p:spPr>
          <a:xfrm>
            <a:off x="548640" y="1371600"/>
            <a:ext cx="5394960" cy="48006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4" name="txt-473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產生</a:t>
            </a:r>
            <a:endParaRPr lang="en-US" sz="2000" dirty="0"/>
          </a:p>
        </p:txBody>
      </p:sp>
      <p:pic>
        <p:nvPicPr>
          <p:cNvPr id="5" name="check-47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40280"/>
            <a:ext cx="320040" cy="320040"/>
          </a:xfrm>
          <a:prstGeom prst="rect">
            <a:avLst/>
          </a:prstGeom>
        </p:spPr>
      </p:pic>
      <p:sp>
        <p:nvSpPr>
          <p:cNvPr id="6" name="txt-475"/>
          <p:cNvSpPr txBox="1"/>
          <p:nvPr/>
        </p:nvSpPr>
        <p:spPr>
          <a:xfrm>
            <a:off x="1371600" y="21945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只掃要出貨的東西：publish 產物，或用 -ef／-t 排除</a:t>
            </a:r>
            <a:endParaRPr lang="en-US" sz="1500" dirty="0"/>
          </a:p>
        </p:txBody>
      </p:sp>
      <p:pic>
        <p:nvPicPr>
          <p:cNvPr id="7" name="check-47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17520"/>
            <a:ext cx="320040" cy="320040"/>
          </a:xfrm>
          <a:prstGeom prst="rect">
            <a:avLst/>
          </a:prstGeom>
        </p:spPr>
      </p:pic>
      <p:sp>
        <p:nvSpPr>
          <p:cNvPr id="8" name="txt-477"/>
          <p:cNvSpPr txBox="1"/>
          <p:nvPr/>
        </p:nvSpPr>
        <p:spPr>
          <a:xfrm>
            <a:off x="1371600" y="29718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設定名稱與版本；檔名能對回製品</a:t>
            </a:r>
            <a:endParaRPr lang="en-US" sz="1500" dirty="0"/>
          </a:p>
        </p:txBody>
      </p:sp>
      <p:pic>
        <p:nvPicPr>
          <p:cNvPr id="9" name="check-47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94760"/>
            <a:ext cx="320040" cy="320040"/>
          </a:xfrm>
          <a:prstGeom prst="rect">
            <a:avLst/>
          </a:prstGeom>
        </p:spPr>
      </p:pic>
      <p:sp>
        <p:nvSpPr>
          <p:cNvPr id="10" name="txt-479"/>
          <p:cNvSpPr txBox="1"/>
          <p:nvPr/>
        </p:nvSpPr>
        <p:spPr>
          <a:xfrm>
            <a:off x="1371600" y="374904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清點沒有 purl 的元件</a:t>
            </a:r>
            <a:endParaRPr lang="en-US" sz="1500" dirty="0"/>
          </a:p>
        </p:txBody>
      </p:sp>
      <p:pic>
        <p:nvPicPr>
          <p:cNvPr id="11" name="check-48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72000"/>
            <a:ext cx="320040" cy="320040"/>
          </a:xfrm>
          <a:prstGeom prst="rect">
            <a:avLst/>
          </a:prstGeom>
        </p:spPr>
      </p:pic>
      <p:sp>
        <p:nvSpPr>
          <p:cNvPr id="12" name="txt-481"/>
          <p:cNvSpPr txBox="1"/>
          <p:nvPr/>
        </p:nvSpPr>
        <p:spPr>
          <a:xfrm>
            <a:off x="1371600" y="452628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確認元件有 license 欄位</a:t>
            </a:r>
            <a:endParaRPr lang="en-US" sz="1500" dirty="0"/>
          </a:p>
        </p:txBody>
      </p:sp>
      <p:pic>
        <p:nvPicPr>
          <p:cNvPr id="13" name="check-48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349240"/>
            <a:ext cx="320040" cy="320040"/>
          </a:xfrm>
          <a:prstGeom prst="rect">
            <a:avLst/>
          </a:prstGeom>
        </p:spPr>
      </p:pic>
      <p:sp>
        <p:nvSpPr>
          <p:cNvPr id="14" name="txt-483"/>
          <p:cNvSpPr txBox="1"/>
          <p:nvPr/>
        </p:nvSpPr>
        <p:spPr>
          <a:xfrm>
            <a:off x="1371600" y="53035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檢查 retire 辨識結果，補登漏掉的函式庫</a:t>
            </a:r>
            <a:endParaRPr lang="en-US" sz="1500" dirty="0"/>
          </a:p>
        </p:txBody>
      </p:sp>
      <p:sp>
        <p:nvSpPr>
          <p:cNvPr id="15" name="card-484"/>
          <p:cNvSpPr/>
          <p:nvPr/>
        </p:nvSpPr>
        <p:spPr>
          <a:xfrm>
            <a:off x="6172200" y="1371600"/>
            <a:ext cx="5394960" cy="48006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16" name="txt-485"/>
          <p:cNvSpPr txBox="1"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掃描與保存</a:t>
            </a:r>
            <a:endParaRPr lang="en-US" sz="2000" dirty="0"/>
          </a:p>
        </p:txBody>
      </p:sp>
      <p:pic>
        <p:nvPicPr>
          <p:cNvPr id="17" name="check-48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2240280"/>
            <a:ext cx="320040" cy="320040"/>
          </a:xfrm>
          <a:prstGeom prst="rect">
            <a:avLst/>
          </a:prstGeom>
        </p:spPr>
      </p:pic>
      <p:sp>
        <p:nvSpPr>
          <p:cNvPr id="18" name="txt-487"/>
          <p:cNvSpPr txBox="1"/>
          <p:nvPr/>
        </p:nvSpPr>
        <p:spPr>
          <a:xfrm>
            <a:off x="6995160" y="21945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記錄工具版本與弱點 DB 建置時間</a:t>
            </a:r>
            <a:endParaRPr lang="en-US" sz="1500" dirty="0"/>
          </a:p>
        </p:txBody>
      </p:sp>
      <p:pic>
        <p:nvPicPr>
          <p:cNvPr id="19" name="check-488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3017520"/>
            <a:ext cx="320040" cy="320040"/>
          </a:xfrm>
          <a:prstGeom prst="rect">
            <a:avLst/>
          </a:prstGeom>
        </p:spPr>
      </p:pic>
      <p:sp>
        <p:nvSpPr>
          <p:cNvPr id="20" name="txt-489"/>
          <p:cNvSpPr txBox="1"/>
          <p:nvPr/>
        </p:nvSpPr>
        <p:spPr>
          <a:xfrm>
            <a:off x="6995160" y="29718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弱點報告留 table（人看）與 JSON（機器讀）</a:t>
            </a:r>
            <a:endParaRPr lang="en-US" sz="1500" dirty="0"/>
          </a:p>
        </p:txBody>
      </p:sp>
      <p:pic>
        <p:nvPicPr>
          <p:cNvPr id="21" name="check-490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3794760"/>
            <a:ext cx="320040" cy="320040"/>
          </a:xfrm>
          <a:prstGeom prst="rect">
            <a:avLst/>
          </a:prstGeom>
        </p:spPr>
      </p:pic>
      <p:sp>
        <p:nvSpPr>
          <p:cNvPr id="22" name="txt-491"/>
          <p:cNvSpPr txBox="1"/>
          <p:nvPr/>
        </p:nvSpPr>
        <p:spPr>
          <a:xfrm>
            <a:off x="6995160" y="374904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高風險弱點逐一研判，結論寫成 VEX</a:t>
            </a:r>
            <a:endParaRPr lang="en-US" sz="1500" dirty="0"/>
          </a:p>
        </p:txBody>
      </p:sp>
      <p:pic>
        <p:nvPicPr>
          <p:cNvPr id="23" name="check-492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4572000"/>
            <a:ext cx="320040" cy="320040"/>
          </a:xfrm>
          <a:prstGeom prst="rect">
            <a:avLst/>
          </a:prstGeom>
        </p:spPr>
      </p:pic>
      <p:sp>
        <p:nvSpPr>
          <p:cNvPr id="24" name="txt-493"/>
          <p:cNvSpPr txBox="1"/>
          <p:nvPr/>
        </p:nvSpPr>
        <p:spPr>
          <a:xfrm>
            <a:off x="6995160" y="452628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保存 SBOM 與報告，排程重掃舊版本</a:t>
            </a:r>
            <a:endParaRPr lang="en-US" sz="1500" dirty="0"/>
          </a:p>
        </p:txBody>
      </p:sp>
      <p:pic>
        <p:nvPicPr>
          <p:cNvPr id="25" name="check-494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5349240"/>
            <a:ext cx="320040" cy="320040"/>
          </a:xfrm>
          <a:prstGeom prst="rect">
            <a:avLst/>
          </a:prstGeom>
        </p:spPr>
      </p:pic>
      <p:sp>
        <p:nvSpPr>
          <p:cNvPr id="26" name="txt-495"/>
          <p:cNvSpPr txBox="1"/>
          <p:nvPr/>
        </p:nvSpPr>
        <p:spPr>
          <a:xfrm>
            <a:off x="6995160" y="53035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腳本參數化，放進 CI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帶走三件事</a:t>
            </a:r>
            <a:endParaRPr lang="en-US" sz="3200" dirty="0"/>
          </a:p>
        </p:txBody>
      </p:sp>
      <p:sp>
        <p:nvSpPr>
          <p:cNvPr id="3" name="chip-496"/>
          <p:cNvSpPr/>
          <p:nvPr/>
        </p:nvSpPr>
        <p:spPr>
          <a:xfrm>
            <a:off x="548640" y="15087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txt-497"/>
          <p:cNvSpPr txBox="1"/>
          <p:nvPr/>
        </p:nvSpPr>
        <p:spPr>
          <a:xfrm>
            <a:off x="54864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xt-498"/>
          <p:cNvSpPr txBox="1"/>
          <p:nvPr/>
        </p:nvSpPr>
        <p:spPr>
          <a:xfrm>
            <a:off x="1554480" y="1417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SBOM 是清單，不是保證</a:t>
            </a:r>
            <a:endParaRPr lang="en-US" sz="2200" dirty="0"/>
          </a:p>
        </p:txBody>
      </p:sp>
      <p:sp>
        <p:nvSpPr>
          <p:cNvPr id="6" name="txt-499"/>
          <p:cNvSpPr txBox="1"/>
          <p:nvPr/>
        </p:nvSpPr>
        <p:spPr>
          <a:xfrm>
            <a:off x="1554480" y="1920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要搭配弱點比對、VEX 研判與簽章才有用</a:t>
            </a:r>
            <a:endParaRPr lang="en-US" sz="1600" dirty="0"/>
          </a:p>
        </p:txBody>
      </p:sp>
      <p:sp>
        <p:nvSpPr>
          <p:cNvPr id="7" name="chip-500"/>
          <p:cNvSpPr/>
          <p:nvPr/>
        </p:nvSpPr>
        <p:spPr>
          <a:xfrm>
            <a:off x="548640" y="26974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xt-501"/>
          <p:cNvSpPr txBox="1"/>
          <p:nvPr/>
        </p:nvSpPr>
        <p:spPr>
          <a:xfrm>
            <a:off x="548640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txt-502"/>
          <p:cNvSpPr txBox="1"/>
          <p:nvPr/>
        </p:nvSpPr>
        <p:spPr>
          <a:xfrm>
            <a:off x="1554480" y="2606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掃對範圍比掃得多重要</a:t>
            </a:r>
            <a:endParaRPr lang="en-US" sz="2200" dirty="0"/>
          </a:p>
        </p:txBody>
      </p:sp>
      <p:sp>
        <p:nvSpPr>
          <p:cNvPr id="10" name="txt-503"/>
          <p:cNvSpPr txBox="1"/>
          <p:nvPr/>
        </p:nvSpPr>
        <p:spPr>
          <a:xfrm>
            <a:off x="1554480" y="31089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1365 vs 176；沒有 purl、沒有 license 的元件就是盲點</a:t>
            </a:r>
            <a:endParaRPr lang="en-US" sz="1600" dirty="0"/>
          </a:p>
        </p:txBody>
      </p:sp>
      <p:sp>
        <p:nvSpPr>
          <p:cNvPr id="11" name="chip-504"/>
          <p:cNvSpPr/>
          <p:nvPr/>
        </p:nvSpPr>
        <p:spPr>
          <a:xfrm>
            <a:off x="548640" y="38862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xt-505"/>
          <p:cNvSpPr txBox="1"/>
          <p:nvPr/>
        </p:nvSpPr>
        <p:spPr>
          <a:xfrm>
            <a:off x="548640" y="3886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</a:t>
            </a:r>
            <a:endParaRPr lang="en-US" sz="2400" dirty="0"/>
          </a:p>
        </p:txBody>
      </p:sp>
      <p:sp>
        <p:nvSpPr>
          <p:cNvPr id="13" name="txt-506"/>
          <p:cNvSpPr txBox="1"/>
          <p:nvPr/>
        </p:nvSpPr>
        <p:spPr>
          <a:xfrm>
            <a:off x="1554480" y="3794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從一支腳本開始</a:t>
            </a:r>
            <a:endParaRPr lang="en-US" sz="2200" dirty="0"/>
          </a:p>
        </p:txBody>
      </p:sp>
      <p:sp>
        <p:nvSpPr>
          <p:cNvPr id="14" name="txt-507"/>
          <p:cNvSpPr txBox="1"/>
          <p:nvPr/>
        </p:nvSpPr>
        <p:spPr>
          <a:xfrm>
            <a:off x="1554480" y="42976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每次 build 產出 SBOM + 弱點 + 授權報告，再談 CI gate 與 VEX</a:t>
            </a:r>
            <a:endParaRPr lang="en-US" sz="1600" dirty="0"/>
          </a:p>
        </p:txBody>
      </p:sp>
      <p:sp>
        <p:nvSpPr>
          <p:cNvPr id="15" name="txt-508"/>
          <p:cNvSpPr txBox="1"/>
          <p:nvPr/>
        </p:nvSpPr>
        <p:spPr>
          <a:xfrm>
            <a:off x="54864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下一步</a:t>
            </a:r>
            <a:endParaRPr lang="en-US" sz="1600" dirty="0"/>
          </a:p>
        </p:txBody>
      </p:sp>
      <p:sp>
        <p:nvSpPr>
          <p:cNvPr id="16" name="card-509"/>
          <p:cNvSpPr/>
          <p:nvPr/>
        </p:nvSpPr>
        <p:spPr>
          <a:xfrm>
            <a:off x="548640" y="5486400"/>
            <a:ext cx="3520440" cy="594360"/>
          </a:xfrm>
          <a:prstGeom prst="roundRect">
            <a:avLst>
              <a:gd name="adj" fmla="val 49231"/>
            </a:avLst>
          </a:prstGeom>
          <a:solidFill>
            <a:srgbClr val="1C5553"/>
          </a:solidFill>
          <a:ln/>
        </p:spPr>
      </p:sp>
      <p:sp>
        <p:nvSpPr>
          <p:cNvPr id="17" name="txt-510"/>
          <p:cNvSpPr txBox="1"/>
          <p:nvPr/>
        </p:nvSpPr>
        <p:spPr>
          <a:xfrm>
            <a:off x="548640" y="54864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Dependency-Track 集中管理</a:t>
            </a:r>
            <a:endParaRPr lang="en-US" sz="1400" dirty="0"/>
          </a:p>
        </p:txBody>
      </p:sp>
      <p:sp>
        <p:nvSpPr>
          <p:cNvPr id="18" name="card-511"/>
          <p:cNvSpPr/>
          <p:nvPr/>
        </p:nvSpPr>
        <p:spPr>
          <a:xfrm>
            <a:off x="4297680" y="5486400"/>
            <a:ext cx="3520440" cy="594360"/>
          </a:xfrm>
          <a:prstGeom prst="roundRect">
            <a:avLst>
              <a:gd name="adj" fmla="val 49231"/>
            </a:avLst>
          </a:prstGeom>
          <a:solidFill>
            <a:srgbClr val="1C5553"/>
          </a:solidFill>
          <a:ln/>
        </p:spPr>
      </p:sp>
      <p:sp>
        <p:nvSpPr>
          <p:cNvPr id="19" name="txt-512"/>
          <p:cNvSpPr txBox="1"/>
          <p:nvPr/>
        </p:nvSpPr>
        <p:spPr>
          <a:xfrm>
            <a:off x="4297680" y="54864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Sigstore／in-toto 簽章</a:t>
            </a:r>
            <a:endParaRPr lang="en-US" sz="1400" dirty="0"/>
          </a:p>
        </p:txBody>
      </p:sp>
      <p:sp>
        <p:nvSpPr>
          <p:cNvPr id="20" name="card-513"/>
          <p:cNvSpPr/>
          <p:nvPr/>
        </p:nvSpPr>
        <p:spPr>
          <a:xfrm>
            <a:off x="8046720" y="5486400"/>
            <a:ext cx="3520440" cy="594360"/>
          </a:xfrm>
          <a:prstGeom prst="roundRect">
            <a:avLst>
              <a:gd name="adj" fmla="val 49231"/>
            </a:avLst>
          </a:prstGeom>
          <a:solidFill>
            <a:srgbClr val="1C5553"/>
          </a:solidFill>
          <a:ln/>
        </p:spPr>
      </p:sp>
      <p:sp>
        <p:nvSpPr>
          <p:cNvPr id="21" name="txt-514"/>
          <p:cNvSpPr txBox="1"/>
          <p:nvPr/>
        </p:nvSpPr>
        <p:spPr>
          <a:xfrm>
            <a:off x="8046720" y="54864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歐盟 CRA、CISA 2026 要素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Q &amp; A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回到開場的問題：下次 Log4Shell 發生時，你的團隊需要多久回答？</a:t>
            </a:r>
            <a:endParaRPr lang="en-US" sz="2000" dirty="0"/>
          </a:p>
        </p:txBody>
      </p:sp>
      <p:sp>
        <p:nvSpPr>
          <p:cNvPr id="4" name="iconbg-515"/>
          <p:cNvSpPr/>
          <p:nvPr/>
        </p:nvSpPr>
        <p:spPr>
          <a:xfrm>
            <a:off x="731520" y="731520"/>
            <a:ext cx="822960" cy="822960"/>
          </a:xfrm>
          <a:prstGeom prst="ellipse">
            <a:avLst/>
          </a:prstGeom>
          <a:solidFill>
            <a:srgbClr val="0E7C6B"/>
          </a:solidFill>
          <a:ln/>
        </p:spPr>
      </p:sp>
      <p:pic>
        <p:nvPicPr>
          <p:cNvPr id="5" name="icon-51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93726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BOM Petrol">
  <a:themeElements>
    <a:clrScheme name="SBOM Petrol">
      <a:dk1>
        <a:srgbClr val="1B2A2F"/>
      </a:dk1>
      <a:lt1>
        <a:srgbClr val="FFFFFF"/>
      </a:lt1>
      <a:dk2>
        <a:srgbClr val="0F3B3A"/>
      </a:dk2>
      <a:lt2>
        <a:srgbClr val="EDF3F1"/>
      </a:lt2>
      <a:accent1>
        <a:srgbClr val="0E7C6B"/>
      </a:accent1>
      <a:accent2>
        <a:srgbClr val="E8A33D"/>
      </a:accent2>
      <a:accent3>
        <a:srgbClr val="C8424F"/>
      </a:accent3>
      <a:accent4>
        <a:srgbClr val="3D5A80"/>
      </a:accent4>
      <a:accent5>
        <a:srgbClr val="8CC5B6"/>
      </a:accent5>
      <a:accent6>
        <a:srgbClr val="5C6B73"/>
      </a:accent6>
      <a:hlink>
        <a:srgbClr val="0E7C6B"/>
      </a:hlink>
      <a:folHlink>
        <a:srgbClr val="3D5A80"/>
      </a:folHlink>
    </a:clrScheme>
    <a:fontScheme name="SBOM Petrol">
      <a:majorFont>
        <a:latin typeface="Calibri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SBOM 實戰：從看得到元件，到知道真正的風險</dc:title>
  <dc:subject>PptxGenJS Presentation</dc:subject>
  <dc:creator>John</dc:creator>
  <cp:lastModifiedBy>John</cp:lastModifiedBy>
  <cp:revision>1</cp:revision>
  <dcterms:created xsi:type="dcterms:W3CDTF">2026-10-07T09:07:29Z</dcterms:created>
  <dcterms:modified xsi:type="dcterms:W3CDTF">2026-10-07T09:07:29Z</dcterms:modified>
</cp:coreProperties>
</file>